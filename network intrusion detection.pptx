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894" r:id="rId1"/>
  </p:sldMasterIdLst>
  <p:notesMasterIdLst>
    <p:notesMasterId r:id="rId13"/>
  </p:notesMasterIdLst>
  <p:sldIdLst>
    <p:sldId id="256" r:id="rId2"/>
    <p:sldId id="257" r:id="rId3"/>
    <p:sldId id="258" r:id="rId4"/>
    <p:sldId id="259" r:id="rId5"/>
    <p:sldId id="266" r:id="rId6"/>
    <p:sldId id="260" r:id="rId7"/>
    <p:sldId id="261" r:id="rId8"/>
    <p:sldId id="262" r:id="rId9"/>
    <p:sldId id="263" r:id="rId10"/>
    <p:sldId id="264" r:id="rId11"/>
    <p:sldId id="265" r:id="rId12"/>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44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4439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F9FAB-D954-EBA8-4ECB-7827DB04B250}"/>
              </a:ext>
            </a:extLst>
          </p:cNvPr>
          <p:cNvSpPr>
            <a:spLocks noGrp="1"/>
          </p:cNvSpPr>
          <p:nvPr>
            <p:ph type="ctrTitle"/>
          </p:nvPr>
        </p:nvSpPr>
        <p:spPr>
          <a:xfrm>
            <a:off x="1828800" y="1346836"/>
            <a:ext cx="10972800" cy="2865120"/>
          </a:xfrm>
        </p:spPr>
        <p:txBody>
          <a:bodyPr anchor="b"/>
          <a:lstStyle>
            <a:lvl1pPr algn="ctr">
              <a:defRPr sz="7200"/>
            </a:lvl1pPr>
          </a:lstStyle>
          <a:p>
            <a:r>
              <a:rPr lang="en-US"/>
              <a:t>Click to edit Master title style</a:t>
            </a:r>
            <a:endParaRPr lang="en-IN"/>
          </a:p>
        </p:txBody>
      </p:sp>
      <p:sp>
        <p:nvSpPr>
          <p:cNvPr id="3" name="Subtitle 2">
            <a:extLst>
              <a:ext uri="{FF2B5EF4-FFF2-40B4-BE49-F238E27FC236}">
                <a16:creationId xmlns:a16="http://schemas.microsoft.com/office/drawing/2014/main" id="{FF5CB18E-83E3-C45C-2148-A9C4A41F9DD3}"/>
              </a:ext>
            </a:extLst>
          </p:cNvPr>
          <p:cNvSpPr>
            <a:spLocks noGrp="1"/>
          </p:cNvSpPr>
          <p:nvPr>
            <p:ph type="subTitle" idx="1"/>
          </p:nvPr>
        </p:nvSpPr>
        <p:spPr>
          <a:xfrm>
            <a:off x="1828800" y="4322446"/>
            <a:ext cx="109728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A121FF3-8FFD-5DD7-D925-23093070129B}"/>
              </a:ext>
            </a:extLst>
          </p:cNvPr>
          <p:cNvSpPr>
            <a:spLocks noGrp="1"/>
          </p:cNvSpPr>
          <p:nvPr>
            <p:ph type="dt" sz="half" idx="10"/>
          </p:nvPr>
        </p:nvSpPr>
        <p:spPr/>
        <p:txBody>
          <a:bodyPr/>
          <a:lstStyle/>
          <a:p>
            <a:fld id="{C764DE79-268F-4C1A-8933-263129D2AF90}" type="datetimeFigureOut">
              <a:rPr lang="en-US" smtClean="0"/>
              <a:t>3/1/2026</a:t>
            </a:fld>
            <a:endParaRPr lang="en-US" dirty="0"/>
          </a:p>
        </p:txBody>
      </p:sp>
      <p:sp>
        <p:nvSpPr>
          <p:cNvPr id="5" name="Footer Placeholder 4">
            <a:extLst>
              <a:ext uri="{FF2B5EF4-FFF2-40B4-BE49-F238E27FC236}">
                <a16:creationId xmlns:a16="http://schemas.microsoft.com/office/drawing/2014/main" id="{A6DE02FB-1837-8BBD-1BA0-891AE2930C2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BEDCFB6-B59E-249E-A079-BD092A1F94B6}"/>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3139253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BEF8A-9704-1D4D-3498-EAEB636269F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F6F4304-9944-FA0F-EC63-FE2139363DC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D497648-9E46-B69D-0669-6C099C64D1F2}"/>
              </a:ext>
            </a:extLst>
          </p:cNvPr>
          <p:cNvSpPr>
            <a:spLocks noGrp="1"/>
          </p:cNvSpPr>
          <p:nvPr>
            <p:ph type="dt" sz="half" idx="10"/>
          </p:nvPr>
        </p:nvSpPr>
        <p:spPr/>
        <p:txBody>
          <a:bodyPr/>
          <a:lstStyle/>
          <a:p>
            <a:fld id="{C764DE79-268F-4C1A-8933-263129D2AF90}" type="datetimeFigureOut">
              <a:rPr lang="en-US" smtClean="0"/>
              <a:t>3/1/2026</a:t>
            </a:fld>
            <a:endParaRPr lang="en-US" dirty="0"/>
          </a:p>
        </p:txBody>
      </p:sp>
      <p:sp>
        <p:nvSpPr>
          <p:cNvPr id="5" name="Footer Placeholder 4">
            <a:extLst>
              <a:ext uri="{FF2B5EF4-FFF2-40B4-BE49-F238E27FC236}">
                <a16:creationId xmlns:a16="http://schemas.microsoft.com/office/drawing/2014/main" id="{49BAA6E3-6CD0-F040-41CF-2985D5E9DC0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ACCD842-3143-E568-BB6E-458B6CA4D7F8}"/>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989441056"/>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5976D-FBAF-CC68-02E5-A5F1AE82A387}"/>
              </a:ext>
            </a:extLst>
          </p:cNvPr>
          <p:cNvSpPr>
            <a:spLocks noGrp="1"/>
          </p:cNvSpPr>
          <p:nvPr>
            <p:ph type="title"/>
          </p:nvPr>
        </p:nvSpPr>
        <p:spPr>
          <a:xfrm>
            <a:off x="998220" y="2051686"/>
            <a:ext cx="12618720" cy="3423284"/>
          </a:xfrm>
        </p:spPr>
        <p:txBody>
          <a:bodyPr anchor="b"/>
          <a:lstStyle>
            <a:lvl1pPr>
              <a:defRPr sz="72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0A6C9CE-56AB-5B74-EABA-BD20FC5E200D}"/>
              </a:ext>
            </a:extLst>
          </p:cNvPr>
          <p:cNvSpPr>
            <a:spLocks noGrp="1"/>
          </p:cNvSpPr>
          <p:nvPr>
            <p:ph type="body" idx="1"/>
          </p:nvPr>
        </p:nvSpPr>
        <p:spPr>
          <a:xfrm>
            <a:off x="998220" y="5507356"/>
            <a:ext cx="12618720" cy="1800224"/>
          </a:xfrm>
        </p:spPr>
        <p:txBody>
          <a:bodyPr/>
          <a:lstStyle>
            <a:lvl1pPr marL="0" indent="0">
              <a:buNone/>
              <a:defRPr sz="2880">
                <a:solidFill>
                  <a:schemeClr val="tx1">
                    <a:tint val="82000"/>
                  </a:schemeClr>
                </a:solidFill>
              </a:defRPr>
            </a:lvl1pPr>
            <a:lvl2pPr marL="548640" indent="0">
              <a:buNone/>
              <a:defRPr sz="2400">
                <a:solidFill>
                  <a:schemeClr val="tx1">
                    <a:tint val="82000"/>
                  </a:schemeClr>
                </a:solidFill>
              </a:defRPr>
            </a:lvl2pPr>
            <a:lvl3pPr marL="1097280" indent="0">
              <a:buNone/>
              <a:defRPr sz="2160">
                <a:solidFill>
                  <a:schemeClr val="tx1">
                    <a:tint val="82000"/>
                  </a:schemeClr>
                </a:solidFill>
              </a:defRPr>
            </a:lvl3pPr>
            <a:lvl4pPr marL="1645920" indent="0">
              <a:buNone/>
              <a:defRPr sz="1920">
                <a:solidFill>
                  <a:schemeClr val="tx1">
                    <a:tint val="82000"/>
                  </a:schemeClr>
                </a:solidFill>
              </a:defRPr>
            </a:lvl4pPr>
            <a:lvl5pPr marL="2194560" indent="0">
              <a:buNone/>
              <a:defRPr sz="1920">
                <a:solidFill>
                  <a:schemeClr val="tx1">
                    <a:tint val="82000"/>
                  </a:schemeClr>
                </a:solidFill>
              </a:defRPr>
            </a:lvl5pPr>
            <a:lvl6pPr marL="2743200" indent="0">
              <a:buNone/>
              <a:defRPr sz="1920">
                <a:solidFill>
                  <a:schemeClr val="tx1">
                    <a:tint val="82000"/>
                  </a:schemeClr>
                </a:solidFill>
              </a:defRPr>
            </a:lvl6pPr>
            <a:lvl7pPr marL="3291840" indent="0">
              <a:buNone/>
              <a:defRPr sz="1920">
                <a:solidFill>
                  <a:schemeClr val="tx1">
                    <a:tint val="82000"/>
                  </a:schemeClr>
                </a:solidFill>
              </a:defRPr>
            </a:lvl7pPr>
            <a:lvl8pPr marL="3840480" indent="0">
              <a:buNone/>
              <a:defRPr sz="1920">
                <a:solidFill>
                  <a:schemeClr val="tx1">
                    <a:tint val="82000"/>
                  </a:schemeClr>
                </a:solidFill>
              </a:defRPr>
            </a:lvl8pPr>
            <a:lvl9pPr marL="4389120" indent="0">
              <a:buNone/>
              <a:defRPr sz="192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B70148-A862-DC82-A89A-AD086F074EA5}"/>
              </a:ext>
            </a:extLst>
          </p:cNvPr>
          <p:cNvSpPr>
            <a:spLocks noGrp="1"/>
          </p:cNvSpPr>
          <p:nvPr>
            <p:ph type="dt" sz="half" idx="10"/>
          </p:nvPr>
        </p:nvSpPr>
        <p:spPr/>
        <p:txBody>
          <a:bodyPr/>
          <a:lstStyle/>
          <a:p>
            <a:fld id="{C764DE79-268F-4C1A-8933-263129D2AF90}" type="datetimeFigureOut">
              <a:rPr lang="en-US" smtClean="0"/>
              <a:t>3/1/2026</a:t>
            </a:fld>
            <a:endParaRPr lang="en-US" dirty="0"/>
          </a:p>
        </p:txBody>
      </p:sp>
      <p:sp>
        <p:nvSpPr>
          <p:cNvPr id="5" name="Footer Placeholder 4">
            <a:extLst>
              <a:ext uri="{FF2B5EF4-FFF2-40B4-BE49-F238E27FC236}">
                <a16:creationId xmlns:a16="http://schemas.microsoft.com/office/drawing/2014/main" id="{AE911749-84D0-A85D-C0F6-6E180672FF3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A278D9B-28AF-40B9-F896-797A5E1C2C6C}"/>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418810853"/>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83F1F-0F14-B968-8094-F38EC9E23D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E264563-313C-04A5-5288-CB568F1DA2A4}"/>
              </a:ext>
            </a:extLst>
          </p:cNvPr>
          <p:cNvSpPr>
            <a:spLocks noGrp="1"/>
          </p:cNvSpPr>
          <p:nvPr>
            <p:ph sz="half" idx="1"/>
          </p:nvPr>
        </p:nvSpPr>
        <p:spPr>
          <a:xfrm>
            <a:off x="10058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984D8FE-7E58-F091-5D2D-8E7B44EE1958}"/>
              </a:ext>
            </a:extLst>
          </p:cNvPr>
          <p:cNvSpPr>
            <a:spLocks noGrp="1"/>
          </p:cNvSpPr>
          <p:nvPr>
            <p:ph sz="half" idx="2"/>
          </p:nvPr>
        </p:nvSpPr>
        <p:spPr>
          <a:xfrm>
            <a:off x="74066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7108A7B-D3DB-ADF5-9F52-0AB01B014BFB}"/>
              </a:ext>
            </a:extLst>
          </p:cNvPr>
          <p:cNvSpPr>
            <a:spLocks noGrp="1"/>
          </p:cNvSpPr>
          <p:nvPr>
            <p:ph type="dt" sz="half" idx="10"/>
          </p:nvPr>
        </p:nvSpPr>
        <p:spPr/>
        <p:txBody>
          <a:bodyPr/>
          <a:lstStyle/>
          <a:p>
            <a:fld id="{C764DE79-268F-4C1A-8933-263129D2AF90}" type="datetimeFigureOut">
              <a:rPr lang="en-US" smtClean="0"/>
              <a:t>3/1/2026</a:t>
            </a:fld>
            <a:endParaRPr lang="en-US" dirty="0"/>
          </a:p>
        </p:txBody>
      </p:sp>
      <p:sp>
        <p:nvSpPr>
          <p:cNvPr id="6" name="Footer Placeholder 5">
            <a:extLst>
              <a:ext uri="{FF2B5EF4-FFF2-40B4-BE49-F238E27FC236}">
                <a16:creationId xmlns:a16="http://schemas.microsoft.com/office/drawing/2014/main" id="{C82CF2FD-EDBD-395F-3578-24367558DD7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E9DE24C-6FF7-14A1-AEE5-AC6E49E1782A}"/>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19111522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F93D9-724A-35A9-3DC1-3C09B458FA60}"/>
              </a:ext>
            </a:extLst>
          </p:cNvPr>
          <p:cNvSpPr>
            <a:spLocks noGrp="1"/>
          </p:cNvSpPr>
          <p:nvPr>
            <p:ph type="title"/>
          </p:nvPr>
        </p:nvSpPr>
        <p:spPr>
          <a:xfrm>
            <a:off x="1007746" y="438150"/>
            <a:ext cx="12618720" cy="1590676"/>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0298570-A801-71A8-71F0-EAF19041D835}"/>
              </a:ext>
            </a:extLst>
          </p:cNvPr>
          <p:cNvSpPr>
            <a:spLocks noGrp="1"/>
          </p:cNvSpPr>
          <p:nvPr>
            <p:ph type="body" idx="1"/>
          </p:nvPr>
        </p:nvSpPr>
        <p:spPr>
          <a:xfrm>
            <a:off x="1007746" y="2017396"/>
            <a:ext cx="6189344"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a:extLst>
              <a:ext uri="{FF2B5EF4-FFF2-40B4-BE49-F238E27FC236}">
                <a16:creationId xmlns:a16="http://schemas.microsoft.com/office/drawing/2014/main" id="{CA55DFC0-35DD-5168-C6C6-4A77202B4FCF}"/>
              </a:ext>
            </a:extLst>
          </p:cNvPr>
          <p:cNvSpPr>
            <a:spLocks noGrp="1"/>
          </p:cNvSpPr>
          <p:nvPr>
            <p:ph sz="half" idx="2"/>
          </p:nvPr>
        </p:nvSpPr>
        <p:spPr>
          <a:xfrm>
            <a:off x="1007746" y="3006090"/>
            <a:ext cx="6189344"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E2A955F-D396-A9C4-54D5-318EA8132C23}"/>
              </a:ext>
            </a:extLst>
          </p:cNvPr>
          <p:cNvSpPr>
            <a:spLocks noGrp="1"/>
          </p:cNvSpPr>
          <p:nvPr>
            <p:ph type="body" sz="quarter" idx="3"/>
          </p:nvPr>
        </p:nvSpPr>
        <p:spPr>
          <a:xfrm>
            <a:off x="7406640" y="2017396"/>
            <a:ext cx="6219826"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a:extLst>
              <a:ext uri="{FF2B5EF4-FFF2-40B4-BE49-F238E27FC236}">
                <a16:creationId xmlns:a16="http://schemas.microsoft.com/office/drawing/2014/main" id="{5D192FD9-40C8-644B-71CE-8B509203F3AB}"/>
              </a:ext>
            </a:extLst>
          </p:cNvPr>
          <p:cNvSpPr>
            <a:spLocks noGrp="1"/>
          </p:cNvSpPr>
          <p:nvPr>
            <p:ph sz="quarter" idx="4"/>
          </p:nvPr>
        </p:nvSpPr>
        <p:spPr>
          <a:xfrm>
            <a:off x="7406640" y="3006090"/>
            <a:ext cx="6219826"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015F401-B4B9-9E00-0752-8CF22491B71F}"/>
              </a:ext>
            </a:extLst>
          </p:cNvPr>
          <p:cNvSpPr>
            <a:spLocks noGrp="1"/>
          </p:cNvSpPr>
          <p:nvPr>
            <p:ph type="dt" sz="half" idx="10"/>
          </p:nvPr>
        </p:nvSpPr>
        <p:spPr/>
        <p:txBody>
          <a:bodyPr/>
          <a:lstStyle/>
          <a:p>
            <a:fld id="{C764DE79-268F-4C1A-8933-263129D2AF90}" type="datetimeFigureOut">
              <a:rPr lang="en-US" smtClean="0"/>
              <a:t>3/1/2026</a:t>
            </a:fld>
            <a:endParaRPr lang="en-US" dirty="0"/>
          </a:p>
        </p:txBody>
      </p:sp>
      <p:sp>
        <p:nvSpPr>
          <p:cNvPr id="8" name="Footer Placeholder 7">
            <a:extLst>
              <a:ext uri="{FF2B5EF4-FFF2-40B4-BE49-F238E27FC236}">
                <a16:creationId xmlns:a16="http://schemas.microsoft.com/office/drawing/2014/main" id="{1790B2B3-BE3A-7620-E68E-162BC4FC24D0}"/>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B2F08B9-F7A4-99C7-B25D-BBF4E37804DA}"/>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25953086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46E9B-F8BE-E5AC-7AF0-B581F6F0227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444478E-F879-19F1-5FF3-74A9CA001ABF}"/>
              </a:ext>
            </a:extLst>
          </p:cNvPr>
          <p:cNvSpPr>
            <a:spLocks noGrp="1"/>
          </p:cNvSpPr>
          <p:nvPr>
            <p:ph type="dt" sz="half" idx="10"/>
          </p:nvPr>
        </p:nvSpPr>
        <p:spPr/>
        <p:txBody>
          <a:bodyPr/>
          <a:lstStyle/>
          <a:p>
            <a:fld id="{C764DE79-268F-4C1A-8933-263129D2AF90}" type="datetimeFigureOut">
              <a:rPr lang="en-US" smtClean="0"/>
              <a:t>3/1/2026</a:t>
            </a:fld>
            <a:endParaRPr lang="en-US" dirty="0"/>
          </a:p>
        </p:txBody>
      </p:sp>
      <p:sp>
        <p:nvSpPr>
          <p:cNvPr id="4" name="Footer Placeholder 3">
            <a:extLst>
              <a:ext uri="{FF2B5EF4-FFF2-40B4-BE49-F238E27FC236}">
                <a16:creationId xmlns:a16="http://schemas.microsoft.com/office/drawing/2014/main" id="{C5C4BC21-5162-748A-10BB-11B27640D4F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547CDD9C-8688-C940-486B-46372B0FB325}"/>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695107259"/>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F1EECAA-CF51-B854-AE2E-002E69538F99}"/>
              </a:ext>
            </a:extLst>
          </p:cNvPr>
          <p:cNvSpPr>
            <a:spLocks noGrp="1"/>
          </p:cNvSpPr>
          <p:nvPr>
            <p:ph type="dt" sz="half" idx="10"/>
          </p:nvPr>
        </p:nvSpPr>
        <p:spPr/>
        <p:txBody>
          <a:bodyPr/>
          <a:lstStyle/>
          <a:p>
            <a:fld id="{C764DE79-268F-4C1A-8933-263129D2AF90}" type="datetimeFigureOut">
              <a:rPr lang="en-US" smtClean="0"/>
              <a:t>3/1/2026</a:t>
            </a:fld>
            <a:endParaRPr lang="en-US" dirty="0"/>
          </a:p>
        </p:txBody>
      </p:sp>
      <p:sp>
        <p:nvSpPr>
          <p:cNvPr id="3" name="Footer Placeholder 2">
            <a:extLst>
              <a:ext uri="{FF2B5EF4-FFF2-40B4-BE49-F238E27FC236}">
                <a16:creationId xmlns:a16="http://schemas.microsoft.com/office/drawing/2014/main" id="{76DFC756-4851-6030-FE93-E87A3D37A486}"/>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E2EF1778-5896-63F1-51C3-3C4F403BDF0E}"/>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50728680"/>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3508B-B65A-94AA-6465-6B8B6DE0E1CB}"/>
              </a:ext>
            </a:extLst>
          </p:cNvPr>
          <p:cNvSpPr>
            <a:spLocks noGrp="1"/>
          </p:cNvSpPr>
          <p:nvPr>
            <p:ph type="title"/>
          </p:nvPr>
        </p:nvSpPr>
        <p:spPr>
          <a:xfrm>
            <a:off x="1007746" y="548640"/>
            <a:ext cx="4718684" cy="1920240"/>
          </a:xfrm>
        </p:spPr>
        <p:txBody>
          <a:bodyPr anchor="b"/>
          <a:lstStyle>
            <a:lvl1pPr>
              <a:defRPr sz="384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23605FF-1D0B-DA11-CE27-003173B09A6C}"/>
              </a:ext>
            </a:extLst>
          </p:cNvPr>
          <p:cNvSpPr>
            <a:spLocks noGrp="1"/>
          </p:cNvSpPr>
          <p:nvPr>
            <p:ph idx="1"/>
          </p:nvPr>
        </p:nvSpPr>
        <p:spPr>
          <a:xfrm>
            <a:off x="6219826" y="1184911"/>
            <a:ext cx="7406640" cy="5848350"/>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EA7ADB9-9DA2-E1F1-5207-08F2BE9E05D2}"/>
              </a:ext>
            </a:extLst>
          </p:cNvPr>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a:extLst>
              <a:ext uri="{FF2B5EF4-FFF2-40B4-BE49-F238E27FC236}">
                <a16:creationId xmlns:a16="http://schemas.microsoft.com/office/drawing/2014/main" id="{D97FCBF0-B23B-D93D-2406-A9B506578582}"/>
              </a:ext>
            </a:extLst>
          </p:cNvPr>
          <p:cNvSpPr>
            <a:spLocks noGrp="1"/>
          </p:cNvSpPr>
          <p:nvPr>
            <p:ph type="dt" sz="half" idx="10"/>
          </p:nvPr>
        </p:nvSpPr>
        <p:spPr/>
        <p:txBody>
          <a:bodyPr/>
          <a:lstStyle/>
          <a:p>
            <a:fld id="{C764DE79-268F-4C1A-8933-263129D2AF90}" type="datetimeFigureOut">
              <a:rPr lang="en-US" smtClean="0"/>
              <a:t>3/1/2026</a:t>
            </a:fld>
            <a:endParaRPr lang="en-US" dirty="0"/>
          </a:p>
        </p:txBody>
      </p:sp>
      <p:sp>
        <p:nvSpPr>
          <p:cNvPr id="6" name="Footer Placeholder 5">
            <a:extLst>
              <a:ext uri="{FF2B5EF4-FFF2-40B4-BE49-F238E27FC236}">
                <a16:creationId xmlns:a16="http://schemas.microsoft.com/office/drawing/2014/main" id="{72EC2D6C-5050-F040-40C4-D2BD41C924C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A3C1AF9-C965-A502-F4C5-3FECC1BA653C}"/>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123387707"/>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68D3A-363F-25DA-0388-4F56A0E48D4A}"/>
              </a:ext>
            </a:extLst>
          </p:cNvPr>
          <p:cNvSpPr>
            <a:spLocks noGrp="1"/>
          </p:cNvSpPr>
          <p:nvPr>
            <p:ph type="title"/>
          </p:nvPr>
        </p:nvSpPr>
        <p:spPr>
          <a:xfrm>
            <a:off x="1007746" y="548640"/>
            <a:ext cx="4718684" cy="1920240"/>
          </a:xfrm>
        </p:spPr>
        <p:txBody>
          <a:bodyPr anchor="b"/>
          <a:lstStyle>
            <a:lvl1pPr>
              <a:defRPr sz="384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8801DFD-DE25-70D2-300E-91DDC992B321}"/>
              </a:ext>
            </a:extLst>
          </p:cNvPr>
          <p:cNvSpPr>
            <a:spLocks noGrp="1"/>
          </p:cNvSpPr>
          <p:nvPr>
            <p:ph type="pic" idx="1"/>
          </p:nvPr>
        </p:nvSpPr>
        <p:spPr>
          <a:xfrm>
            <a:off x="6219826" y="1184911"/>
            <a:ext cx="7406640" cy="5848350"/>
          </a:xfrm>
        </p:spPr>
        <p:txBody>
          <a:bodyPr/>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endParaRPr lang="en-IN"/>
          </a:p>
        </p:txBody>
      </p:sp>
      <p:sp>
        <p:nvSpPr>
          <p:cNvPr id="4" name="Text Placeholder 3">
            <a:extLst>
              <a:ext uri="{FF2B5EF4-FFF2-40B4-BE49-F238E27FC236}">
                <a16:creationId xmlns:a16="http://schemas.microsoft.com/office/drawing/2014/main" id="{B1CC6415-0D37-824C-4083-BE7EE98BD268}"/>
              </a:ext>
            </a:extLst>
          </p:cNvPr>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a:extLst>
              <a:ext uri="{FF2B5EF4-FFF2-40B4-BE49-F238E27FC236}">
                <a16:creationId xmlns:a16="http://schemas.microsoft.com/office/drawing/2014/main" id="{A4777C56-7C65-EBF5-3EE8-DD52A5C5DC63}"/>
              </a:ext>
            </a:extLst>
          </p:cNvPr>
          <p:cNvSpPr>
            <a:spLocks noGrp="1"/>
          </p:cNvSpPr>
          <p:nvPr>
            <p:ph type="dt" sz="half" idx="10"/>
          </p:nvPr>
        </p:nvSpPr>
        <p:spPr/>
        <p:txBody>
          <a:bodyPr/>
          <a:lstStyle/>
          <a:p>
            <a:fld id="{C764DE79-268F-4C1A-8933-263129D2AF90}" type="datetimeFigureOut">
              <a:rPr lang="en-US" smtClean="0"/>
              <a:t>3/1/2026</a:t>
            </a:fld>
            <a:endParaRPr lang="en-US" dirty="0"/>
          </a:p>
        </p:txBody>
      </p:sp>
      <p:sp>
        <p:nvSpPr>
          <p:cNvPr id="6" name="Footer Placeholder 5">
            <a:extLst>
              <a:ext uri="{FF2B5EF4-FFF2-40B4-BE49-F238E27FC236}">
                <a16:creationId xmlns:a16="http://schemas.microsoft.com/office/drawing/2014/main" id="{BEEEA875-DA3C-F818-38E8-915883FE7CB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EF34188-08A0-8EC0-51DB-194DBB440AFF}"/>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7165588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7EFD8-76D4-B8F6-4268-33CF8C3A929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496620D-EEEC-D74A-5B7E-158EE1F3FA3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863212C-BC56-7433-C966-D125705C99B7}"/>
              </a:ext>
            </a:extLst>
          </p:cNvPr>
          <p:cNvSpPr>
            <a:spLocks noGrp="1"/>
          </p:cNvSpPr>
          <p:nvPr>
            <p:ph type="dt" sz="half" idx="10"/>
          </p:nvPr>
        </p:nvSpPr>
        <p:spPr/>
        <p:txBody>
          <a:bodyPr/>
          <a:lstStyle/>
          <a:p>
            <a:fld id="{C764DE79-268F-4C1A-8933-263129D2AF90}" type="datetimeFigureOut">
              <a:rPr lang="en-US" smtClean="0"/>
              <a:t>3/1/2026</a:t>
            </a:fld>
            <a:endParaRPr lang="en-US" dirty="0"/>
          </a:p>
        </p:txBody>
      </p:sp>
      <p:sp>
        <p:nvSpPr>
          <p:cNvPr id="5" name="Footer Placeholder 4">
            <a:extLst>
              <a:ext uri="{FF2B5EF4-FFF2-40B4-BE49-F238E27FC236}">
                <a16:creationId xmlns:a16="http://schemas.microsoft.com/office/drawing/2014/main" id="{2158EFDB-CD09-D811-0A8E-000D492230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8C24F3A-97C5-D991-960C-07C9217BE1DB}"/>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6204020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735F308-AA34-8B6B-ABEB-4EB428B18940}"/>
              </a:ext>
            </a:extLst>
          </p:cNvPr>
          <p:cNvSpPr>
            <a:spLocks noGrp="1"/>
          </p:cNvSpPr>
          <p:nvPr>
            <p:ph type="title" orient="vert"/>
          </p:nvPr>
        </p:nvSpPr>
        <p:spPr>
          <a:xfrm>
            <a:off x="10469880" y="438150"/>
            <a:ext cx="3154680" cy="6974206"/>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847ABFA-3417-1EFF-577A-90ECC639FE47}"/>
              </a:ext>
            </a:extLst>
          </p:cNvPr>
          <p:cNvSpPr>
            <a:spLocks noGrp="1"/>
          </p:cNvSpPr>
          <p:nvPr>
            <p:ph type="body" orient="vert" idx="1"/>
          </p:nvPr>
        </p:nvSpPr>
        <p:spPr>
          <a:xfrm>
            <a:off x="1005840" y="438150"/>
            <a:ext cx="9281160" cy="69742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2CD78F8-5231-65D9-E670-25D663577E50}"/>
              </a:ext>
            </a:extLst>
          </p:cNvPr>
          <p:cNvSpPr>
            <a:spLocks noGrp="1"/>
          </p:cNvSpPr>
          <p:nvPr>
            <p:ph type="dt" sz="half" idx="10"/>
          </p:nvPr>
        </p:nvSpPr>
        <p:spPr/>
        <p:txBody>
          <a:bodyPr/>
          <a:lstStyle/>
          <a:p>
            <a:fld id="{C764DE79-268F-4C1A-8933-263129D2AF90}" type="datetimeFigureOut">
              <a:rPr lang="en-US" smtClean="0"/>
              <a:t>3/1/2026</a:t>
            </a:fld>
            <a:endParaRPr lang="en-US" dirty="0"/>
          </a:p>
        </p:txBody>
      </p:sp>
      <p:sp>
        <p:nvSpPr>
          <p:cNvPr id="5" name="Footer Placeholder 4">
            <a:extLst>
              <a:ext uri="{FF2B5EF4-FFF2-40B4-BE49-F238E27FC236}">
                <a16:creationId xmlns:a16="http://schemas.microsoft.com/office/drawing/2014/main" id="{D5656679-3232-9F4D-C59B-99288944A2A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6596973-5967-4858-A463-200C6876E09B}"/>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58094289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90594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35218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62170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31448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1370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cSld name="Slide 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10232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409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2237046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cSld name="Slide 9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986562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cSld name="Slide 10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67087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122C93-EDCB-FAEE-E5FA-3D86A6190EED}"/>
              </a:ext>
            </a:extLst>
          </p:cNvPr>
          <p:cNvSpPr>
            <a:spLocks noGrp="1"/>
          </p:cNvSpPr>
          <p:nvPr>
            <p:ph type="title"/>
          </p:nvPr>
        </p:nvSpPr>
        <p:spPr>
          <a:xfrm>
            <a:off x="1005840" y="438150"/>
            <a:ext cx="12618720" cy="1590676"/>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CFF724F-4B1F-36FE-D01D-46CAEECB573A}"/>
              </a:ext>
            </a:extLst>
          </p:cNvPr>
          <p:cNvSpPr>
            <a:spLocks noGrp="1"/>
          </p:cNvSpPr>
          <p:nvPr>
            <p:ph type="body" idx="1"/>
          </p:nvPr>
        </p:nvSpPr>
        <p:spPr>
          <a:xfrm>
            <a:off x="1005840" y="2190750"/>
            <a:ext cx="12618720" cy="522160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51DB8C1-48E6-0B43-DE0B-A3358E6BC300}"/>
              </a:ext>
            </a:extLst>
          </p:cNvPr>
          <p:cNvSpPr>
            <a:spLocks noGrp="1"/>
          </p:cNvSpPr>
          <p:nvPr>
            <p:ph type="dt" sz="half" idx="2"/>
          </p:nvPr>
        </p:nvSpPr>
        <p:spPr>
          <a:xfrm>
            <a:off x="1005840" y="7627621"/>
            <a:ext cx="3291840" cy="438150"/>
          </a:xfrm>
          <a:prstGeom prst="rect">
            <a:avLst/>
          </a:prstGeom>
        </p:spPr>
        <p:txBody>
          <a:bodyPr vert="horz" lIns="91440" tIns="45720" rIns="91440" bIns="45720" rtlCol="0" anchor="ctr"/>
          <a:lstStyle>
            <a:lvl1pPr algn="l">
              <a:defRPr sz="1440">
                <a:solidFill>
                  <a:schemeClr val="tx1">
                    <a:tint val="82000"/>
                  </a:schemeClr>
                </a:solidFill>
              </a:defRPr>
            </a:lvl1pPr>
          </a:lstStyle>
          <a:p>
            <a:fld id="{C764DE79-268F-4C1A-8933-263129D2AF90}" type="datetimeFigureOut">
              <a:rPr lang="en-US" smtClean="0"/>
              <a:t>3/1/2026</a:t>
            </a:fld>
            <a:endParaRPr lang="en-US" dirty="0"/>
          </a:p>
        </p:txBody>
      </p:sp>
      <p:sp>
        <p:nvSpPr>
          <p:cNvPr id="5" name="Footer Placeholder 4">
            <a:extLst>
              <a:ext uri="{FF2B5EF4-FFF2-40B4-BE49-F238E27FC236}">
                <a16:creationId xmlns:a16="http://schemas.microsoft.com/office/drawing/2014/main" id="{C1E84848-C2EC-43E6-45EB-8AB8ED463A3B}"/>
              </a:ext>
            </a:extLst>
          </p:cNvPr>
          <p:cNvSpPr>
            <a:spLocks noGrp="1"/>
          </p:cNvSpPr>
          <p:nvPr>
            <p:ph type="ftr" sz="quarter" idx="3"/>
          </p:nvPr>
        </p:nvSpPr>
        <p:spPr>
          <a:xfrm>
            <a:off x="4846320" y="7627621"/>
            <a:ext cx="4937760" cy="438150"/>
          </a:xfrm>
          <a:prstGeom prst="rect">
            <a:avLst/>
          </a:prstGeom>
        </p:spPr>
        <p:txBody>
          <a:bodyPr vert="horz" lIns="91440" tIns="45720" rIns="91440" bIns="45720" rtlCol="0" anchor="ctr"/>
          <a:lstStyle>
            <a:lvl1pPr algn="ctr">
              <a:defRPr sz="144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91E6D13B-A312-AAEB-A39B-53869676A1D4}"/>
              </a:ext>
            </a:extLst>
          </p:cNvPr>
          <p:cNvSpPr>
            <a:spLocks noGrp="1"/>
          </p:cNvSpPr>
          <p:nvPr>
            <p:ph type="sldNum" sz="quarter" idx="4"/>
          </p:nvPr>
        </p:nvSpPr>
        <p:spPr>
          <a:xfrm>
            <a:off x="10332720" y="7627621"/>
            <a:ext cx="3291840" cy="438150"/>
          </a:xfrm>
          <a:prstGeom prst="rect">
            <a:avLst/>
          </a:prstGeom>
        </p:spPr>
        <p:txBody>
          <a:bodyPr vert="horz" lIns="91440" tIns="45720" rIns="91440" bIns="45720" rtlCol="0" anchor="ctr"/>
          <a:lstStyle>
            <a:lvl1pPr algn="r">
              <a:defRPr sz="1440">
                <a:solidFill>
                  <a:schemeClr val="tx1">
                    <a:tint val="82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2087393571"/>
      </p:ext>
    </p:extLst>
  </p:cSld>
  <p:clrMap bg1="lt1" tx1="dk1" bg2="lt2" tx2="dk2" accent1="accent1" accent2="accent2" accent3="accent3" accent4="accent4" accent5="accent5" accent6="accent6" hlink="hlink" folHlink="folHlink"/>
  <p:sldLayoutIdLst>
    <p:sldLayoutId id="2147483895" r:id="rId1"/>
    <p:sldLayoutId id="2147483896" r:id="rId2"/>
    <p:sldLayoutId id="2147483897" r:id="rId3"/>
    <p:sldLayoutId id="2147483898" r:id="rId4"/>
    <p:sldLayoutId id="2147483899" r:id="rId5"/>
    <p:sldLayoutId id="2147483900" r:id="rId6"/>
    <p:sldLayoutId id="2147483901" r:id="rId7"/>
    <p:sldLayoutId id="2147483902" r:id="rId8"/>
    <p:sldLayoutId id="2147483903" r:id="rId9"/>
    <p:sldLayoutId id="2147483904" r:id="rId10"/>
    <p:sldLayoutId id="2147483905" r:id="rId11"/>
    <p:sldLayoutId id="2147483906" r:id="rId12"/>
    <p:sldLayoutId id="2147483907" r:id="rId13"/>
    <p:sldLayoutId id="2147483908" r:id="rId14"/>
    <p:sldLayoutId id="2147483909" r:id="rId15"/>
    <p:sldLayoutId id="2147483910" r:id="rId16"/>
    <p:sldLayoutId id="2147483911" r:id="rId17"/>
    <p:sldLayoutId id="2147483912" r:id="rId18"/>
    <p:sldLayoutId id="2147483913" r:id="rId19"/>
    <p:sldLayoutId id="2147483914" r:id="rId20"/>
    <p:sldLayoutId id="2147483915" r:id="rId21"/>
  </p:sldLayoutIdLst>
  <p:hf sldNum="0" hdr="0" ftr="0" dt="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7.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showMasterSp="0">
  <p:cSld name="Slide 1">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Text 0"/>
          <p:cNvSpPr/>
          <p:nvPr/>
        </p:nvSpPr>
        <p:spPr>
          <a:xfrm>
            <a:off x="793790" y="2345649"/>
            <a:ext cx="12620874" cy="3962553"/>
          </a:xfrm>
          <a:prstGeom prst="rect">
            <a:avLst/>
          </a:prstGeom>
          <a:noFill/>
          <a:ln/>
        </p:spPr>
        <p:txBody>
          <a:bodyPr wrap="square" lIns="0" tIns="0" rIns="0" bIns="0" rtlCol="0" anchor="t"/>
          <a:lstStyle/>
          <a:p>
            <a:pPr marL="0" indent="0" algn="l">
              <a:buNone/>
            </a:pPr>
            <a:r>
              <a:rPr lang="en-US" sz="6600" dirty="0">
                <a:solidFill>
                  <a:srgbClr val="124E73"/>
                </a:solidFill>
                <a:latin typeface="Times New Roman" panose="02020603050405020304" pitchFamily="18" charset="0"/>
                <a:ea typeface="MuseoModerno Medium" pitchFamily="34" charset="-122"/>
                <a:cs typeface="Times New Roman" panose="02020603050405020304" pitchFamily="18" charset="0"/>
              </a:rPr>
              <a:t>Implementing Anomaly Detection Algorithms for Network Intrusion Detection</a:t>
            </a:r>
            <a:endParaRPr lang="en-US" sz="6600" dirty="0">
              <a:latin typeface="Times New Roman" panose="02020603050405020304" pitchFamily="18" charset="0"/>
              <a:cs typeface="Times New Roman" panose="02020603050405020304" pitchFamily="18" charset="0"/>
            </a:endParaRPr>
          </a:p>
        </p:txBody>
      </p:sp>
      <p:sp>
        <p:nvSpPr>
          <p:cNvPr id="4" name="Text 1"/>
          <p:cNvSpPr/>
          <p:nvPr/>
        </p:nvSpPr>
        <p:spPr>
          <a:xfrm>
            <a:off x="793790" y="5520928"/>
            <a:ext cx="7556421" cy="362903"/>
          </a:xfrm>
          <a:prstGeom prst="rect">
            <a:avLst/>
          </a:prstGeom>
          <a:noFill/>
          <a:ln/>
        </p:spPr>
        <p:txBody>
          <a:bodyPr wrap="none" lIns="0" tIns="0" rIns="0" bIns="0" rtlCol="0" anchor="t"/>
          <a:lstStyle/>
          <a:p>
            <a:pPr marL="0" indent="0" algn="l">
              <a:lnSpc>
                <a:spcPts val="2850"/>
              </a:lnSpc>
              <a:buNone/>
            </a:pP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name="Slide 2">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AB4EA258-20FA-F62E-35B4-49F5C19FFDE7}"/>
              </a:ext>
            </a:extLst>
          </p:cNvPr>
          <p:cNvGraphicFramePr>
            <a:graphicFrameLocks noGrp="1"/>
          </p:cNvGraphicFramePr>
          <p:nvPr>
            <p:extLst>
              <p:ext uri="{D42A27DB-BD31-4B8C-83A1-F6EECF244321}">
                <p14:modId xmlns:p14="http://schemas.microsoft.com/office/powerpoint/2010/main" val="841671295"/>
              </p:ext>
            </p:extLst>
          </p:nvPr>
        </p:nvGraphicFramePr>
        <p:xfrm>
          <a:off x="2565721" y="1766424"/>
          <a:ext cx="9753600" cy="5085787"/>
        </p:xfrm>
        <a:graphic>
          <a:graphicData uri="http://schemas.openxmlformats.org/drawingml/2006/table">
            <a:tbl>
              <a:tblPr firstRow="1" bandRow="1">
                <a:tableStyleId>{5C22544A-7EE6-4342-B048-85BDC9FD1C3A}</a:tableStyleId>
              </a:tblPr>
              <a:tblGrid>
                <a:gridCol w="9753600">
                  <a:extLst>
                    <a:ext uri="{9D8B030D-6E8A-4147-A177-3AD203B41FA5}">
                      <a16:colId xmlns:a16="http://schemas.microsoft.com/office/drawing/2014/main" val="3104464668"/>
                    </a:ext>
                  </a:extLst>
                </a:gridCol>
              </a:tblGrid>
              <a:tr h="5085787">
                <a:tc>
                  <a:txBody>
                    <a:bodyPr/>
                    <a:lstStyle/>
                    <a:p>
                      <a:pPr>
                        <a:lnSpc>
                          <a:spcPct val="200000"/>
                        </a:lnSpc>
                      </a:pPr>
                      <a:r>
                        <a:rPr lang="en-IN" sz="3600" dirty="0"/>
                        <a:t>2300080257- </a:t>
                      </a:r>
                      <a:r>
                        <a:rPr lang="en-IN" sz="3600" dirty="0" err="1"/>
                        <a:t>S.Sai</a:t>
                      </a:r>
                      <a:r>
                        <a:rPr lang="en-IN" sz="3600" dirty="0"/>
                        <a:t> Kiran</a:t>
                      </a:r>
                    </a:p>
                    <a:p>
                      <a:pPr>
                        <a:lnSpc>
                          <a:spcPct val="200000"/>
                        </a:lnSpc>
                      </a:pPr>
                      <a:r>
                        <a:rPr lang="en-IN" sz="3600" dirty="0"/>
                        <a:t>2300080283-V Surya Theja</a:t>
                      </a:r>
                    </a:p>
                    <a:p>
                      <a:pPr>
                        <a:lnSpc>
                          <a:spcPct val="200000"/>
                        </a:lnSpc>
                      </a:pPr>
                      <a:r>
                        <a:rPr lang="en-IN" sz="3600" dirty="0"/>
                        <a:t>2300080329-Sai Priyanka</a:t>
                      </a:r>
                    </a:p>
                  </a:txBody>
                  <a:tcPr/>
                </a:tc>
                <a:extLst>
                  <a:ext uri="{0D108BD9-81ED-4DB2-BD59-A6C34878D82A}">
                    <a16:rowId xmlns:a16="http://schemas.microsoft.com/office/drawing/2014/main" val="3450468634"/>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name="Slide 3">
    <p:spTree>
      <p:nvGrpSpPr>
        <p:cNvPr id="1" name=""/>
        <p:cNvGrpSpPr/>
        <p:nvPr/>
      </p:nvGrpSpPr>
      <p:grpSpPr>
        <a:xfrm>
          <a:off x="0" y="0"/>
          <a:ext cx="0" cy="0"/>
          <a:chOff x="0" y="0"/>
          <a:chExt cx="0" cy="0"/>
        </a:xfrm>
      </p:grpSpPr>
      <p:sp>
        <p:nvSpPr>
          <p:cNvPr id="2" name="Text 0"/>
          <p:cNvSpPr/>
          <p:nvPr/>
        </p:nvSpPr>
        <p:spPr>
          <a:xfrm>
            <a:off x="777954" y="611267"/>
            <a:ext cx="13074491" cy="1389459"/>
          </a:xfrm>
          <a:prstGeom prst="rect">
            <a:avLst/>
          </a:prstGeom>
          <a:noFill/>
          <a:ln/>
        </p:spPr>
        <p:txBody>
          <a:bodyPr wrap="square" lIns="0" tIns="0" rIns="0" bIns="0" rtlCol="0" anchor="t"/>
          <a:lstStyle/>
          <a:p>
            <a:pPr marL="0" indent="0" algn="l">
              <a:lnSpc>
                <a:spcPts val="5450"/>
              </a:lnSpc>
              <a:buNone/>
            </a:pPr>
            <a:r>
              <a:rPr lang="en-US" sz="4350" dirty="0">
                <a:solidFill>
                  <a:srgbClr val="124E73"/>
                </a:solidFill>
                <a:latin typeface="MuseoModerno Medium" pitchFamily="34" charset="0"/>
                <a:ea typeface="MuseoModerno Medium" pitchFamily="34" charset="-122"/>
                <a:cs typeface="MuseoModerno Medium" pitchFamily="34" charset="-120"/>
              </a:rPr>
              <a:t>lntroduction: Why Anomaly Detection Matters in Network Security</a:t>
            </a:r>
            <a:endParaRPr lang="en-US" sz="4350" dirty="0"/>
          </a:p>
        </p:txBody>
      </p:sp>
      <p:sp>
        <p:nvSpPr>
          <p:cNvPr id="3" name="Text 1"/>
          <p:cNvSpPr/>
          <p:nvPr/>
        </p:nvSpPr>
        <p:spPr>
          <a:xfrm>
            <a:off x="777954" y="2534126"/>
            <a:ext cx="7627739" cy="711279"/>
          </a:xfrm>
          <a:prstGeom prst="rect">
            <a:avLst/>
          </a:prstGeom>
          <a:noFill/>
          <a:ln/>
        </p:spPr>
        <p:txBody>
          <a:bodyPr wrap="square" lIns="0" tIns="0" rIns="0" bIns="0" rtlCol="0" anchor="t"/>
          <a:lstStyle/>
          <a:p>
            <a:pPr marL="0" indent="0" algn="l">
              <a:lnSpc>
                <a:spcPts val="2800"/>
              </a:lnSpc>
              <a:buNone/>
            </a:pPr>
            <a:r>
              <a:rPr lang="en-US" sz="1750" b="1" dirty="0">
                <a:solidFill>
                  <a:srgbClr val="2B4150"/>
                </a:solidFill>
                <a:latin typeface="Source Sans 3" pitchFamily="34" charset="0"/>
                <a:ea typeface="Source Sans 3" pitchFamily="34" charset="-122"/>
                <a:cs typeface="Source Sans 3" pitchFamily="34" charset="-120"/>
              </a:rPr>
              <a:t>Network Intrusion Detection Systems (NIDS) monitor traffic to detect malicious activity and protect critical infrastructure from sophisticated cyber threats.</a:t>
            </a:r>
            <a:endParaRPr lang="en-US" sz="1750" b="1" dirty="0"/>
          </a:p>
        </p:txBody>
      </p:sp>
      <p:sp>
        <p:nvSpPr>
          <p:cNvPr id="4" name="Text 2"/>
          <p:cNvSpPr/>
          <p:nvPr/>
        </p:nvSpPr>
        <p:spPr>
          <a:xfrm>
            <a:off x="777954" y="3445431"/>
            <a:ext cx="7627739" cy="1066919"/>
          </a:xfrm>
          <a:prstGeom prst="rect">
            <a:avLst/>
          </a:prstGeom>
          <a:noFill/>
          <a:ln/>
        </p:spPr>
        <p:txBody>
          <a:bodyPr wrap="square" lIns="0" tIns="0" rIns="0" bIns="0" rtlCol="0" anchor="t"/>
          <a:lstStyle/>
          <a:p>
            <a:pPr marL="0" indent="0" algn="l">
              <a:lnSpc>
                <a:spcPts val="2800"/>
              </a:lnSpc>
              <a:buNone/>
            </a:pPr>
            <a:r>
              <a:rPr lang="en-US" sz="1750" b="1" dirty="0">
                <a:solidFill>
                  <a:srgbClr val="2B4150"/>
                </a:solidFill>
                <a:latin typeface="Source Sans 3" pitchFamily="34" charset="0"/>
                <a:ea typeface="Source Sans 3" pitchFamily="34" charset="-122"/>
                <a:cs typeface="Source Sans 3" pitchFamily="34" charset="-120"/>
              </a:rPr>
              <a:t>Unlike signature-based IDS that rely on known attack patterns, anomaly detection identifies </a:t>
            </a:r>
            <a:r>
              <a:rPr lang="en-US" sz="1750" b="1" dirty="0">
                <a:solidFill>
                  <a:srgbClr val="325F7B"/>
                </a:solidFill>
                <a:latin typeface="Source Sans 3" pitchFamily="34" charset="0"/>
                <a:ea typeface="Source Sans 3" pitchFamily="34" charset="-122"/>
                <a:cs typeface="Source Sans 3" pitchFamily="34" charset="-120"/>
              </a:rPr>
              <a:t>unknown or zero-day attacks</a:t>
            </a:r>
            <a:r>
              <a:rPr lang="en-US" sz="1750" b="1" dirty="0">
                <a:solidFill>
                  <a:srgbClr val="2B4150"/>
                </a:solidFill>
                <a:latin typeface="Source Sans 3" pitchFamily="34" charset="0"/>
                <a:ea typeface="Source Sans 3" pitchFamily="34" charset="-122"/>
                <a:cs typeface="Source Sans 3" pitchFamily="34" charset="-120"/>
              </a:rPr>
              <a:t> by spotting deviations from normal behaviour patterns.</a:t>
            </a:r>
            <a:endParaRPr lang="en-US" sz="1750" b="1" dirty="0"/>
          </a:p>
        </p:txBody>
      </p:sp>
      <p:sp>
        <p:nvSpPr>
          <p:cNvPr id="5" name="Text 3"/>
          <p:cNvSpPr/>
          <p:nvPr/>
        </p:nvSpPr>
        <p:spPr>
          <a:xfrm>
            <a:off x="777954" y="4712375"/>
            <a:ext cx="7627739" cy="1066919"/>
          </a:xfrm>
          <a:prstGeom prst="rect">
            <a:avLst/>
          </a:prstGeom>
          <a:noFill/>
          <a:ln/>
        </p:spPr>
        <p:txBody>
          <a:bodyPr wrap="square" lIns="0" tIns="0" rIns="0" bIns="0" rtlCol="0" anchor="t"/>
          <a:lstStyle/>
          <a:p>
            <a:pPr marL="0" indent="0" algn="l">
              <a:lnSpc>
                <a:spcPts val="2800"/>
              </a:lnSpc>
              <a:buNone/>
            </a:pPr>
            <a:r>
              <a:rPr lang="en-US" sz="1750" b="1" dirty="0">
                <a:solidFill>
                  <a:srgbClr val="2B4150"/>
                </a:solidFill>
                <a:latin typeface="Source Sans 3" pitchFamily="34" charset="0"/>
                <a:ea typeface="Source Sans 3" pitchFamily="34" charset="-122"/>
                <a:cs typeface="Source Sans 3" pitchFamily="34" charset="-120"/>
              </a:rPr>
              <a:t>Growing cyber threats and increasingly complex network environments demand advanced anomaly detection techniques to safeguard sensitive data and maintain operational continuity.</a:t>
            </a:r>
            <a:endParaRPr lang="en-US" sz="1750" b="1" dirty="0"/>
          </a:p>
        </p:txBody>
      </p:sp>
      <p:pic>
        <p:nvPicPr>
          <p:cNvPr id="1026" name="Picture 2" descr="What is anomaly detection in cybersecurity | Techniques, types, and use  cases">
            <a:extLst>
              <a:ext uri="{FF2B5EF4-FFF2-40B4-BE49-F238E27FC236}">
                <a16:creationId xmlns:a16="http://schemas.microsoft.com/office/drawing/2014/main" id="{5E50ED2F-E8D6-C6B7-CB3C-08D12AC4A6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09735" y="2000726"/>
            <a:ext cx="5763739" cy="45340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name="Slide 4">
    <p:spTree>
      <p:nvGrpSpPr>
        <p:cNvPr id="1" name=""/>
        <p:cNvGrpSpPr/>
        <p:nvPr/>
      </p:nvGrpSpPr>
      <p:grpSpPr>
        <a:xfrm>
          <a:off x="0" y="0"/>
          <a:ext cx="0" cy="0"/>
          <a:chOff x="0" y="0"/>
          <a:chExt cx="0" cy="0"/>
        </a:xfrm>
      </p:grpSpPr>
      <p:sp>
        <p:nvSpPr>
          <p:cNvPr id="3" name="Text 0"/>
          <p:cNvSpPr/>
          <p:nvPr/>
        </p:nvSpPr>
        <p:spPr>
          <a:xfrm>
            <a:off x="687705" y="820103"/>
            <a:ext cx="7768590" cy="1228011"/>
          </a:xfrm>
          <a:prstGeom prst="rect">
            <a:avLst/>
          </a:prstGeom>
          <a:noFill/>
          <a:ln/>
        </p:spPr>
        <p:txBody>
          <a:bodyPr wrap="square" lIns="0" tIns="0" rIns="0" bIns="0" rtlCol="0" anchor="t"/>
          <a:lstStyle/>
          <a:p>
            <a:pPr marL="0" indent="0" algn="l">
              <a:lnSpc>
                <a:spcPts val="4800"/>
              </a:lnSpc>
              <a:buNone/>
            </a:pPr>
            <a:r>
              <a:rPr lang="en-US" sz="3850" dirty="0">
                <a:solidFill>
                  <a:srgbClr val="124E73"/>
                </a:solidFill>
                <a:latin typeface="MuseoModerno Medium" pitchFamily="34" charset="0"/>
                <a:ea typeface="MuseoModerno Medium" pitchFamily="34" charset="-122"/>
                <a:cs typeface="MuseoModerno Medium" pitchFamily="34" charset="-120"/>
              </a:rPr>
              <a:t>Scenario: Detecting Unknown Threats in Dynamic Networks</a:t>
            </a:r>
            <a:endParaRPr lang="en-US" sz="3850" dirty="0"/>
          </a:p>
        </p:txBody>
      </p:sp>
      <p:sp>
        <p:nvSpPr>
          <p:cNvPr id="4" name="Shape 1"/>
          <p:cNvSpPr/>
          <p:nvPr/>
        </p:nvSpPr>
        <p:spPr>
          <a:xfrm>
            <a:off x="687704" y="2342793"/>
            <a:ext cx="5821367" cy="2435066"/>
          </a:xfrm>
          <a:prstGeom prst="roundRect">
            <a:avLst>
              <a:gd name="adj" fmla="val 4506"/>
            </a:avLst>
          </a:prstGeom>
          <a:solidFill>
            <a:srgbClr val="FFFCF5"/>
          </a:solidFill>
          <a:ln w="22860">
            <a:solidFill>
              <a:srgbClr val="D9D4C9"/>
            </a:solidFill>
            <a:prstDash val="solid"/>
          </a:ln>
        </p:spPr>
        <p:txBody>
          <a:bodyPr/>
          <a:lstStyle/>
          <a:p>
            <a:endParaRPr lang="en-IN"/>
          </a:p>
        </p:txBody>
      </p:sp>
      <p:sp>
        <p:nvSpPr>
          <p:cNvPr id="5" name="Shape 2"/>
          <p:cNvSpPr/>
          <p:nvPr/>
        </p:nvSpPr>
        <p:spPr>
          <a:xfrm>
            <a:off x="664845" y="2342793"/>
            <a:ext cx="91440" cy="2435066"/>
          </a:xfrm>
          <a:prstGeom prst="roundRect">
            <a:avLst>
              <a:gd name="adj" fmla="val 32233"/>
            </a:avLst>
          </a:prstGeom>
          <a:solidFill>
            <a:srgbClr val="325F7B"/>
          </a:solidFill>
          <a:ln/>
        </p:spPr>
        <p:txBody>
          <a:bodyPr/>
          <a:lstStyle/>
          <a:p>
            <a:endParaRPr lang="en-IN"/>
          </a:p>
        </p:txBody>
      </p:sp>
      <p:sp>
        <p:nvSpPr>
          <p:cNvPr id="6" name="Text 3"/>
          <p:cNvSpPr/>
          <p:nvPr/>
        </p:nvSpPr>
        <p:spPr>
          <a:xfrm>
            <a:off x="975598" y="2562106"/>
            <a:ext cx="3097411" cy="306943"/>
          </a:xfrm>
          <a:prstGeom prst="rect">
            <a:avLst/>
          </a:prstGeom>
          <a:noFill/>
          <a:ln/>
        </p:spPr>
        <p:txBody>
          <a:bodyPr wrap="none" lIns="0" tIns="0" rIns="0" bIns="0" rtlCol="0" anchor="t"/>
          <a:lstStyle/>
          <a:p>
            <a:pPr marL="0" indent="0" algn="l">
              <a:lnSpc>
                <a:spcPts val="2400"/>
              </a:lnSpc>
              <a:buNone/>
            </a:pPr>
            <a:r>
              <a:rPr lang="en-US" sz="2000" b="1" dirty="0">
                <a:solidFill>
                  <a:srgbClr val="2B4150"/>
                </a:solidFill>
                <a:latin typeface="MuseoModerno Medium" pitchFamily="34" charset="0"/>
                <a:ea typeface="MuseoModerno Medium" pitchFamily="34" charset="-122"/>
                <a:cs typeface="MuseoModerno Medium" pitchFamily="34" charset="-120"/>
              </a:rPr>
              <a:t>Modern Threat Landscape</a:t>
            </a:r>
            <a:endParaRPr lang="en-US" sz="2000" b="1" dirty="0"/>
          </a:p>
        </p:txBody>
      </p:sp>
      <p:sp>
        <p:nvSpPr>
          <p:cNvPr id="7" name="Text 4"/>
          <p:cNvSpPr/>
          <p:nvPr/>
        </p:nvSpPr>
        <p:spPr>
          <a:xfrm>
            <a:off x="975597" y="2986921"/>
            <a:ext cx="5300511" cy="1571625"/>
          </a:xfrm>
          <a:prstGeom prst="rect">
            <a:avLst/>
          </a:prstGeom>
          <a:noFill/>
          <a:ln/>
        </p:spPr>
        <p:txBody>
          <a:bodyPr wrap="square" lIns="0" tIns="0" rIns="0" bIns="0" rtlCol="0" anchor="t"/>
          <a:lstStyle/>
          <a:p>
            <a:pPr marL="0" indent="0" algn="l">
              <a:lnSpc>
                <a:spcPts val="2450"/>
              </a:lnSpc>
              <a:buNone/>
            </a:pPr>
            <a:r>
              <a:rPr lang="en-US" dirty="0">
                <a:solidFill>
                  <a:srgbClr val="2B4150"/>
                </a:solidFill>
                <a:latin typeface="Source Sans 3" pitchFamily="34" charset="0"/>
                <a:ea typeface="Source Sans 3" pitchFamily="34" charset="-122"/>
                <a:cs typeface="Source Sans 3" pitchFamily="34" charset="-120"/>
              </a:rPr>
              <a:t>Networks face evolving threats including zero-day exploits, insider attacks, and sophisticated malware campaigns targeting critical infrastructure.</a:t>
            </a:r>
            <a:endParaRPr lang="en-US" dirty="0"/>
          </a:p>
        </p:txBody>
      </p:sp>
      <p:sp>
        <p:nvSpPr>
          <p:cNvPr id="8" name="Shape 5"/>
          <p:cNvSpPr/>
          <p:nvPr/>
        </p:nvSpPr>
        <p:spPr>
          <a:xfrm>
            <a:off x="7849845" y="2293680"/>
            <a:ext cx="5658337" cy="2435066"/>
          </a:xfrm>
          <a:prstGeom prst="roundRect">
            <a:avLst>
              <a:gd name="adj" fmla="val 4506"/>
            </a:avLst>
          </a:prstGeom>
          <a:solidFill>
            <a:srgbClr val="FFFCF5"/>
          </a:solidFill>
          <a:ln w="22860">
            <a:solidFill>
              <a:srgbClr val="D9D4C9"/>
            </a:solidFill>
            <a:prstDash val="solid"/>
          </a:ln>
        </p:spPr>
        <p:txBody>
          <a:bodyPr/>
          <a:lstStyle/>
          <a:p>
            <a:endParaRPr lang="en-IN"/>
          </a:p>
        </p:txBody>
      </p:sp>
      <p:sp>
        <p:nvSpPr>
          <p:cNvPr id="10" name="Text 7"/>
          <p:cNvSpPr/>
          <p:nvPr/>
        </p:nvSpPr>
        <p:spPr>
          <a:xfrm>
            <a:off x="8369196" y="2562105"/>
            <a:ext cx="2797373" cy="306943"/>
          </a:xfrm>
          <a:prstGeom prst="rect">
            <a:avLst/>
          </a:prstGeom>
          <a:noFill/>
          <a:ln/>
        </p:spPr>
        <p:txBody>
          <a:bodyPr wrap="none" lIns="0" tIns="0" rIns="0" bIns="0" rtlCol="0" anchor="t"/>
          <a:lstStyle/>
          <a:p>
            <a:pPr marL="0" indent="0" algn="l">
              <a:lnSpc>
                <a:spcPts val="2400"/>
              </a:lnSpc>
              <a:buNone/>
            </a:pPr>
            <a:r>
              <a:rPr lang="en-US" sz="2000" b="1" dirty="0">
                <a:solidFill>
                  <a:srgbClr val="2B4150"/>
                </a:solidFill>
                <a:latin typeface="MuseoModerno Medium" pitchFamily="34" charset="0"/>
                <a:ea typeface="MuseoModerno Medium" pitchFamily="34" charset="-122"/>
                <a:cs typeface="MuseoModerno Medium" pitchFamily="34" charset="-120"/>
              </a:rPr>
              <a:t>Baseline Establishment</a:t>
            </a:r>
            <a:endParaRPr lang="en-US" sz="2000" b="1" dirty="0"/>
          </a:p>
        </p:txBody>
      </p:sp>
      <p:sp>
        <p:nvSpPr>
          <p:cNvPr id="11" name="Text 8"/>
          <p:cNvSpPr/>
          <p:nvPr/>
        </p:nvSpPr>
        <p:spPr>
          <a:xfrm>
            <a:off x="8369195" y="2869049"/>
            <a:ext cx="4951949" cy="1571625"/>
          </a:xfrm>
          <a:prstGeom prst="rect">
            <a:avLst/>
          </a:prstGeom>
          <a:noFill/>
          <a:ln/>
        </p:spPr>
        <p:txBody>
          <a:bodyPr wrap="square" lIns="0" tIns="0" rIns="0" bIns="0" rtlCol="0" anchor="t"/>
          <a:lstStyle/>
          <a:p>
            <a:pPr marL="0" indent="0" algn="l">
              <a:lnSpc>
                <a:spcPts val="2450"/>
              </a:lnSpc>
              <a:buNone/>
            </a:pPr>
            <a:r>
              <a:rPr lang="en-US" dirty="0">
                <a:solidFill>
                  <a:srgbClr val="2B4150"/>
                </a:solidFill>
                <a:latin typeface="Source Sans 3" pitchFamily="34" charset="0"/>
                <a:ea typeface="Source Sans 3" pitchFamily="34" charset="-122"/>
                <a:cs typeface="Source Sans 3" pitchFamily="34" charset="-120"/>
              </a:rPr>
              <a:t>Anomaly detection models establish comprehensive baselines of normal network traffic patterns and flag unusual deviations that may indicate security breaches.</a:t>
            </a:r>
            <a:endParaRPr lang="en-US" dirty="0"/>
          </a:p>
        </p:txBody>
      </p:sp>
      <p:sp>
        <p:nvSpPr>
          <p:cNvPr id="12" name="Shape 9"/>
          <p:cNvSpPr/>
          <p:nvPr/>
        </p:nvSpPr>
        <p:spPr>
          <a:xfrm>
            <a:off x="4473773" y="5046284"/>
            <a:ext cx="5821366" cy="2435066"/>
          </a:xfrm>
          <a:prstGeom prst="roundRect">
            <a:avLst>
              <a:gd name="adj" fmla="val 4506"/>
            </a:avLst>
          </a:prstGeom>
          <a:solidFill>
            <a:srgbClr val="FFFCF5"/>
          </a:solidFill>
          <a:ln w="22860">
            <a:solidFill>
              <a:srgbClr val="D9D4C9"/>
            </a:solidFill>
            <a:prstDash val="solid"/>
          </a:ln>
        </p:spPr>
        <p:txBody>
          <a:bodyPr/>
          <a:lstStyle/>
          <a:p>
            <a:endParaRPr lang="en-IN"/>
          </a:p>
        </p:txBody>
      </p:sp>
      <p:sp>
        <p:nvSpPr>
          <p:cNvPr id="14" name="Text 11"/>
          <p:cNvSpPr/>
          <p:nvPr/>
        </p:nvSpPr>
        <p:spPr>
          <a:xfrm>
            <a:off x="4859060" y="5268515"/>
            <a:ext cx="2456140" cy="306943"/>
          </a:xfrm>
          <a:prstGeom prst="rect">
            <a:avLst/>
          </a:prstGeom>
          <a:noFill/>
          <a:ln/>
        </p:spPr>
        <p:txBody>
          <a:bodyPr wrap="none" lIns="0" tIns="0" rIns="0" bIns="0" rtlCol="0" anchor="t"/>
          <a:lstStyle/>
          <a:p>
            <a:pPr marL="0" indent="0" algn="l">
              <a:lnSpc>
                <a:spcPts val="2400"/>
              </a:lnSpc>
              <a:buNone/>
            </a:pPr>
            <a:r>
              <a:rPr lang="en-US" sz="2400" b="1" dirty="0">
                <a:solidFill>
                  <a:srgbClr val="2B4150"/>
                </a:solidFill>
                <a:latin typeface="MuseoModerno Medium" pitchFamily="34" charset="0"/>
                <a:ea typeface="MuseoModerno Medium" pitchFamily="34" charset="-122"/>
                <a:cs typeface="MuseoModerno Medium" pitchFamily="34" charset="-120"/>
              </a:rPr>
              <a:t>Practical Example</a:t>
            </a:r>
            <a:endParaRPr lang="en-US" sz="2400" b="1" dirty="0"/>
          </a:p>
        </p:txBody>
      </p:sp>
      <p:sp>
        <p:nvSpPr>
          <p:cNvPr id="15" name="Text 12"/>
          <p:cNvSpPr/>
          <p:nvPr/>
        </p:nvSpPr>
        <p:spPr>
          <a:xfrm>
            <a:off x="4859060" y="5739549"/>
            <a:ext cx="4970740" cy="1571625"/>
          </a:xfrm>
          <a:prstGeom prst="rect">
            <a:avLst/>
          </a:prstGeom>
          <a:noFill/>
          <a:ln/>
        </p:spPr>
        <p:txBody>
          <a:bodyPr wrap="square" lIns="0" tIns="0" rIns="0" bIns="0" rtlCol="0" anchor="t"/>
          <a:lstStyle/>
          <a:p>
            <a:pPr marL="0" indent="0" algn="l">
              <a:lnSpc>
                <a:spcPts val="2450"/>
              </a:lnSpc>
              <a:buNone/>
            </a:pPr>
            <a:r>
              <a:rPr lang="en-US" dirty="0">
                <a:solidFill>
                  <a:srgbClr val="2B4150"/>
                </a:solidFill>
                <a:latin typeface="Source Sans 3" pitchFamily="34" charset="0"/>
                <a:ea typeface="Source Sans 3" pitchFamily="34" charset="-122"/>
                <a:cs typeface="Source Sans 3" pitchFamily="34" charset="-120"/>
              </a:rPr>
              <a:t>Sudden spikes in traffic volume, unusual protocol usage, or abnormal connection patterns may indicate a breach attempt or reconnaissance activity.</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F304F69-8B84-3BEA-85A9-682A0EB24620}"/>
              </a:ext>
            </a:extLst>
          </p:cNvPr>
          <p:cNvSpPr txBox="1"/>
          <p:nvPr/>
        </p:nvSpPr>
        <p:spPr>
          <a:xfrm>
            <a:off x="737755" y="2122944"/>
            <a:ext cx="12749645" cy="5038367"/>
          </a:xfrm>
          <a:prstGeom prst="rect">
            <a:avLst/>
          </a:prstGeom>
          <a:noFill/>
        </p:spPr>
        <p:txBody>
          <a:bodyPr wrap="square">
            <a:spAutoFit/>
          </a:bodyPr>
          <a:lstStyle/>
          <a:p>
            <a:pPr algn="just">
              <a:lnSpc>
                <a:spcPct val="150000"/>
              </a:lnSpc>
              <a:buNone/>
            </a:pPr>
            <a:r>
              <a:rPr lang="en-US" sz="2000" b="1" dirty="0"/>
              <a:t>Literature Survey:</a:t>
            </a:r>
          </a:p>
          <a:p>
            <a:pPr algn="just">
              <a:lnSpc>
                <a:spcPct val="150000"/>
              </a:lnSpc>
              <a:buNone/>
            </a:pPr>
            <a:r>
              <a:rPr lang="en-US" dirty="0"/>
              <a:t>Past algorithms, such as </a:t>
            </a:r>
            <a:r>
              <a:rPr lang="en-US" b="1" dirty="0"/>
              <a:t>Signature-Based IDS</a:t>
            </a:r>
            <a:r>
              <a:rPr lang="en-US" dirty="0"/>
              <a:t>, relied on a database of known threats, making them completely ineffective against new "zero-day" attacks that had no existing record. Later </a:t>
            </a:r>
            <a:r>
              <a:rPr lang="en-US" b="1" dirty="0"/>
              <a:t>Distance-Based (k-NN)</a:t>
            </a:r>
            <a:r>
              <a:rPr lang="en-US" dirty="0"/>
              <a:t> and </a:t>
            </a:r>
            <a:r>
              <a:rPr lang="en-US" b="1" dirty="0"/>
              <a:t>Density-Based (LOF)</a:t>
            </a:r>
            <a:r>
              <a:rPr lang="en-US" dirty="0"/>
              <a:t> algorithms were introduced, but they struggled with high-dimensional network data, often becoming computationally too slow for real-time traffic. These traditional methods also required massive amounts of "normal" data to build a baseline profile, which was easily distorted by noise or slight shifts in user behavior.</a:t>
            </a:r>
          </a:p>
          <a:p>
            <a:pPr algn="just">
              <a:lnSpc>
                <a:spcPct val="150000"/>
              </a:lnSpc>
              <a:buNone/>
            </a:pPr>
            <a:r>
              <a:rPr lang="en-US" b="1" dirty="0"/>
              <a:t>Isolation Forest</a:t>
            </a:r>
            <a:r>
              <a:rPr lang="en-US" dirty="0"/>
              <a:t> overcomes these challenges by flipping the logic: instead of trying to define what is "normal," it focuses exclusively on how easy it is to "isolate" a point. Because it uses random partitioning rather than complex distance calculations, it is significantly faster and requires much less memory, making it ideal for high-speed networks. It effectively handles "swamping" (where normal points hide anomalies) and "masking" (where groups of anomalies hide each other) through sub-sampling techniques. This shift from profiling the majority to isolating the minority allows it to detect unknown intrusions with high accuracy and minimal manual tuning.</a:t>
            </a:r>
          </a:p>
        </p:txBody>
      </p:sp>
    </p:spTree>
    <p:extLst>
      <p:ext uri="{BB962C8B-B14F-4D97-AF65-F5344CB8AC3E}">
        <p14:creationId xmlns:p14="http://schemas.microsoft.com/office/powerpoint/2010/main" val="22647624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name="Slide 5">
    <p:spTree>
      <p:nvGrpSpPr>
        <p:cNvPr id="1" name=""/>
        <p:cNvGrpSpPr/>
        <p:nvPr/>
      </p:nvGrpSpPr>
      <p:grpSpPr>
        <a:xfrm>
          <a:off x="0" y="0"/>
          <a:ext cx="0" cy="0"/>
          <a:chOff x="0" y="0"/>
          <a:chExt cx="0" cy="0"/>
        </a:xfrm>
      </p:grpSpPr>
      <p:sp>
        <p:nvSpPr>
          <p:cNvPr id="2" name="Text 0"/>
          <p:cNvSpPr/>
          <p:nvPr/>
        </p:nvSpPr>
        <p:spPr>
          <a:xfrm>
            <a:off x="793790" y="1018342"/>
            <a:ext cx="7381518" cy="708779"/>
          </a:xfrm>
          <a:prstGeom prst="rect">
            <a:avLst/>
          </a:prstGeom>
          <a:noFill/>
          <a:ln/>
        </p:spPr>
        <p:txBody>
          <a:bodyPr wrap="none" lIns="0" tIns="0" rIns="0" bIns="0" rtlCol="0" anchor="t"/>
          <a:lstStyle/>
          <a:p>
            <a:pPr marL="0" indent="0" algn="l">
              <a:lnSpc>
                <a:spcPts val="5550"/>
              </a:lnSpc>
              <a:buNone/>
            </a:pPr>
            <a:r>
              <a:rPr lang="en-US" sz="4450" dirty="0">
                <a:solidFill>
                  <a:srgbClr val="124E73"/>
                </a:solidFill>
                <a:latin typeface="MuseoModerno Medium" pitchFamily="34" charset="0"/>
                <a:ea typeface="MuseoModerno Medium" pitchFamily="34" charset="-122"/>
                <a:cs typeface="MuseoModerno Medium" pitchFamily="34" charset="-120"/>
              </a:rPr>
              <a:t> Algorithm Used</a:t>
            </a:r>
            <a:endParaRPr lang="en-US" sz="4450" dirty="0"/>
          </a:p>
        </p:txBody>
      </p:sp>
      <p:sp>
        <p:nvSpPr>
          <p:cNvPr id="3" name="Shape 1"/>
          <p:cNvSpPr/>
          <p:nvPr/>
        </p:nvSpPr>
        <p:spPr>
          <a:xfrm>
            <a:off x="446462" y="2150102"/>
            <a:ext cx="6407944" cy="5030510"/>
          </a:xfrm>
          <a:prstGeom prst="roundRect">
            <a:avLst>
              <a:gd name="adj" fmla="val 2908"/>
            </a:avLst>
          </a:prstGeom>
          <a:solidFill>
            <a:srgbClr val="FFFCF5"/>
          </a:solidFill>
          <a:ln w="30480">
            <a:solidFill>
              <a:srgbClr val="D9D4C9"/>
            </a:solidFill>
            <a:prstDash val="solid"/>
          </a:ln>
        </p:spPr>
        <p:txBody>
          <a:bodyPr/>
          <a:lstStyle/>
          <a:p>
            <a:endParaRPr lang="en-IN"/>
          </a:p>
        </p:txBody>
      </p:sp>
      <p:sp>
        <p:nvSpPr>
          <p:cNvPr id="5" name="Text 3"/>
          <p:cNvSpPr/>
          <p:nvPr/>
        </p:nvSpPr>
        <p:spPr>
          <a:xfrm>
            <a:off x="1142524" y="2438043"/>
            <a:ext cx="2835235" cy="354330"/>
          </a:xfrm>
          <a:prstGeom prst="rect">
            <a:avLst/>
          </a:prstGeom>
          <a:noFill/>
          <a:ln/>
        </p:spPr>
        <p:txBody>
          <a:bodyPr wrap="none" lIns="0" tIns="0" rIns="0" bIns="0" rtlCol="0" anchor="t"/>
          <a:lstStyle/>
          <a:p>
            <a:pPr marL="0" indent="0" algn="l">
              <a:lnSpc>
                <a:spcPts val="2750"/>
              </a:lnSpc>
              <a:buNone/>
            </a:pPr>
            <a:endParaRPr lang="en-US" sz="2200" dirty="0"/>
          </a:p>
        </p:txBody>
      </p:sp>
      <p:sp>
        <p:nvSpPr>
          <p:cNvPr id="6" name="Text 4"/>
          <p:cNvSpPr/>
          <p:nvPr/>
        </p:nvSpPr>
        <p:spPr>
          <a:xfrm>
            <a:off x="1142524" y="2928461"/>
            <a:ext cx="5801916" cy="362903"/>
          </a:xfrm>
          <a:prstGeom prst="rect">
            <a:avLst/>
          </a:prstGeom>
          <a:noFill/>
          <a:ln/>
        </p:spPr>
        <p:txBody>
          <a:bodyPr wrap="none" lIns="0" tIns="0" rIns="0" bIns="0" rtlCol="0" anchor="t"/>
          <a:lstStyle/>
          <a:p>
            <a:pPr marL="342900" indent="-342900" algn="l">
              <a:lnSpc>
                <a:spcPts val="2850"/>
              </a:lnSpc>
              <a:buSzPct val="100000"/>
              <a:buChar char="•"/>
            </a:pPr>
            <a:endParaRPr lang="en-US" sz="1750" dirty="0"/>
          </a:p>
        </p:txBody>
      </p:sp>
      <p:sp>
        <p:nvSpPr>
          <p:cNvPr id="7" name="Text 5"/>
          <p:cNvSpPr/>
          <p:nvPr/>
        </p:nvSpPr>
        <p:spPr>
          <a:xfrm>
            <a:off x="1142524" y="3370659"/>
            <a:ext cx="5801916" cy="725805"/>
          </a:xfrm>
          <a:prstGeom prst="rect">
            <a:avLst/>
          </a:prstGeom>
          <a:noFill/>
          <a:ln/>
        </p:spPr>
        <p:txBody>
          <a:bodyPr wrap="square" lIns="0" tIns="0" rIns="0" bIns="0" rtlCol="0" anchor="t"/>
          <a:lstStyle/>
          <a:p>
            <a:pPr marL="342900" indent="-342900" algn="l">
              <a:lnSpc>
                <a:spcPts val="2850"/>
              </a:lnSpc>
              <a:buSzPct val="100000"/>
              <a:buChar char="•"/>
            </a:pPr>
            <a:endParaRPr lang="en-US" sz="1750" dirty="0"/>
          </a:p>
        </p:txBody>
      </p:sp>
      <p:sp>
        <p:nvSpPr>
          <p:cNvPr id="8" name="Text 6"/>
          <p:cNvSpPr/>
          <p:nvPr/>
        </p:nvSpPr>
        <p:spPr>
          <a:xfrm>
            <a:off x="1142524" y="4175760"/>
            <a:ext cx="5801916" cy="725805"/>
          </a:xfrm>
          <a:prstGeom prst="rect">
            <a:avLst/>
          </a:prstGeom>
          <a:noFill/>
          <a:ln/>
        </p:spPr>
        <p:txBody>
          <a:bodyPr wrap="square" lIns="0" tIns="0" rIns="0" bIns="0" rtlCol="0" anchor="t"/>
          <a:lstStyle/>
          <a:p>
            <a:pPr marL="342900" indent="-342900" algn="l">
              <a:lnSpc>
                <a:spcPts val="2850"/>
              </a:lnSpc>
              <a:buSzPct val="100000"/>
              <a:buChar char="•"/>
            </a:pPr>
            <a:endParaRPr lang="en-US" sz="1750" dirty="0"/>
          </a:p>
        </p:txBody>
      </p:sp>
      <p:sp>
        <p:nvSpPr>
          <p:cNvPr id="9" name="Text 7"/>
          <p:cNvSpPr/>
          <p:nvPr/>
        </p:nvSpPr>
        <p:spPr>
          <a:xfrm>
            <a:off x="1142524" y="4980861"/>
            <a:ext cx="5801916" cy="725805"/>
          </a:xfrm>
          <a:prstGeom prst="rect">
            <a:avLst/>
          </a:prstGeom>
          <a:noFill/>
          <a:ln/>
        </p:spPr>
        <p:txBody>
          <a:bodyPr wrap="square" lIns="0" tIns="0" rIns="0" bIns="0" rtlCol="0" anchor="t"/>
          <a:lstStyle/>
          <a:p>
            <a:pPr marL="342900" indent="-342900" algn="l">
              <a:lnSpc>
                <a:spcPts val="2850"/>
              </a:lnSpc>
              <a:buSzPct val="100000"/>
              <a:buChar char="•"/>
            </a:pPr>
            <a:endParaRPr lang="en-US" sz="1750" dirty="0"/>
          </a:p>
        </p:txBody>
      </p:sp>
      <p:sp>
        <p:nvSpPr>
          <p:cNvPr id="10" name="Text 8"/>
          <p:cNvSpPr/>
          <p:nvPr/>
        </p:nvSpPr>
        <p:spPr>
          <a:xfrm>
            <a:off x="1142524" y="4980861"/>
            <a:ext cx="5801916" cy="362903"/>
          </a:xfrm>
          <a:prstGeom prst="rect">
            <a:avLst/>
          </a:prstGeom>
          <a:noFill/>
          <a:ln/>
        </p:spPr>
        <p:txBody>
          <a:bodyPr wrap="none" lIns="0" tIns="0" rIns="0" bIns="0" rtlCol="0" anchor="t"/>
          <a:lstStyle/>
          <a:p>
            <a:pPr marL="342900" indent="-342900" algn="l">
              <a:lnSpc>
                <a:spcPts val="2850"/>
              </a:lnSpc>
              <a:buSzPct val="100000"/>
              <a:buChar char="•"/>
            </a:pPr>
            <a:endParaRPr lang="en-US" sz="1750" dirty="0"/>
          </a:p>
        </p:txBody>
      </p:sp>
      <p:sp>
        <p:nvSpPr>
          <p:cNvPr id="11" name="Text 9"/>
          <p:cNvSpPr/>
          <p:nvPr/>
        </p:nvSpPr>
        <p:spPr>
          <a:xfrm>
            <a:off x="1142524" y="6228159"/>
            <a:ext cx="5801916" cy="725805"/>
          </a:xfrm>
          <a:prstGeom prst="rect">
            <a:avLst/>
          </a:prstGeom>
          <a:noFill/>
          <a:ln/>
        </p:spPr>
        <p:txBody>
          <a:bodyPr wrap="square" lIns="0" tIns="0" rIns="0" bIns="0" rtlCol="0" anchor="t"/>
          <a:lstStyle/>
          <a:p>
            <a:pPr marL="342900" indent="-342900" algn="l">
              <a:lnSpc>
                <a:spcPts val="2850"/>
              </a:lnSpc>
              <a:buSzPct val="100000"/>
              <a:buChar char="•"/>
            </a:pPr>
            <a:endParaRPr lang="en-US" sz="1750" dirty="0"/>
          </a:p>
        </p:txBody>
      </p:sp>
      <p:sp>
        <p:nvSpPr>
          <p:cNvPr id="12" name="Shape 10"/>
          <p:cNvSpPr/>
          <p:nvPr/>
        </p:nvSpPr>
        <p:spPr>
          <a:xfrm>
            <a:off x="7494881" y="918030"/>
            <a:ext cx="6408063" cy="6504677"/>
          </a:xfrm>
          <a:prstGeom prst="roundRect">
            <a:avLst>
              <a:gd name="adj" fmla="val 2908"/>
            </a:avLst>
          </a:prstGeom>
          <a:solidFill>
            <a:srgbClr val="FFFCF5"/>
          </a:solidFill>
          <a:ln w="30480">
            <a:solidFill>
              <a:srgbClr val="D9D4C9"/>
            </a:solidFill>
            <a:prstDash val="solid"/>
          </a:ln>
        </p:spPr>
        <p:txBody>
          <a:bodyPr/>
          <a:lstStyle/>
          <a:p>
            <a:endParaRPr lang="en-IN"/>
          </a:p>
        </p:txBody>
      </p:sp>
      <p:sp>
        <p:nvSpPr>
          <p:cNvPr id="15" name="Text 13"/>
          <p:cNvSpPr/>
          <p:nvPr/>
        </p:nvSpPr>
        <p:spPr>
          <a:xfrm>
            <a:off x="9295307" y="1114902"/>
            <a:ext cx="5802035" cy="378143"/>
          </a:xfrm>
          <a:prstGeom prst="rect">
            <a:avLst/>
          </a:prstGeom>
          <a:noFill/>
          <a:ln/>
        </p:spPr>
        <p:txBody>
          <a:bodyPr wrap="none" lIns="0" tIns="0" rIns="0" bIns="0" rtlCol="0" anchor="t"/>
          <a:lstStyle/>
          <a:p>
            <a:pPr algn="l">
              <a:lnSpc>
                <a:spcPts val="2850"/>
              </a:lnSpc>
              <a:buSzPct val="100000"/>
            </a:pPr>
            <a:r>
              <a:rPr lang="en-US" sz="2800" b="1" dirty="0">
                <a:solidFill>
                  <a:srgbClr val="FF0000"/>
                </a:solidFill>
                <a:latin typeface="Source Sans 3" pitchFamily="34" charset="0"/>
                <a:ea typeface="Source Sans 3" pitchFamily="34" charset="-122"/>
                <a:cs typeface="Source Sans 3" pitchFamily="34" charset="-120"/>
              </a:rPr>
              <a:t>Isolation</a:t>
            </a:r>
            <a:r>
              <a:rPr lang="en-US" sz="2800" b="1" dirty="0">
                <a:solidFill>
                  <a:srgbClr val="2B4150"/>
                </a:solidFill>
                <a:latin typeface="Source Sans 3" pitchFamily="34" charset="0"/>
                <a:ea typeface="Source Sans 3" pitchFamily="34" charset="-122"/>
                <a:cs typeface="Source Sans 3" pitchFamily="34" charset="-120"/>
              </a:rPr>
              <a:t> </a:t>
            </a:r>
            <a:r>
              <a:rPr lang="en-US" sz="2800" b="1" dirty="0">
                <a:solidFill>
                  <a:srgbClr val="FF0000"/>
                </a:solidFill>
                <a:latin typeface="Source Sans 3" pitchFamily="34" charset="0"/>
                <a:ea typeface="Source Sans 3" pitchFamily="34" charset="-122"/>
                <a:cs typeface="Source Sans 3" pitchFamily="34" charset="-120"/>
              </a:rPr>
              <a:t>Forest</a:t>
            </a:r>
            <a:r>
              <a:rPr lang="en-US" sz="2800" dirty="0">
                <a:solidFill>
                  <a:srgbClr val="2B4150"/>
                </a:solidFill>
                <a:latin typeface="Source Sans 3" pitchFamily="34" charset="0"/>
                <a:ea typeface="Source Sans 3" pitchFamily="34" charset="-122"/>
                <a:cs typeface="Source Sans 3" pitchFamily="34" charset="-120"/>
              </a:rPr>
              <a:t> </a:t>
            </a:r>
            <a:endParaRPr lang="en-US" sz="2800" dirty="0"/>
          </a:p>
        </p:txBody>
      </p:sp>
      <p:sp>
        <p:nvSpPr>
          <p:cNvPr id="16" name="Text 14"/>
          <p:cNvSpPr/>
          <p:nvPr/>
        </p:nvSpPr>
        <p:spPr>
          <a:xfrm flipV="1">
            <a:off x="7777282" y="3340180"/>
            <a:ext cx="5802035" cy="45719"/>
          </a:xfrm>
          <a:prstGeom prst="rect">
            <a:avLst/>
          </a:prstGeom>
          <a:noFill/>
          <a:ln/>
        </p:spPr>
        <p:txBody>
          <a:bodyPr wrap="square" lIns="0" tIns="0" rIns="0" bIns="0" rtlCol="0" anchor="t"/>
          <a:lstStyle/>
          <a:p>
            <a:pPr marL="342900" indent="-342900" algn="l">
              <a:lnSpc>
                <a:spcPts val="2850"/>
              </a:lnSpc>
              <a:buSzPct val="100000"/>
              <a:buChar char="•"/>
            </a:pPr>
            <a:endParaRPr lang="en-US" sz="1750" dirty="0"/>
          </a:p>
        </p:txBody>
      </p:sp>
      <p:sp>
        <p:nvSpPr>
          <p:cNvPr id="17" name="Text 15"/>
          <p:cNvSpPr/>
          <p:nvPr/>
        </p:nvSpPr>
        <p:spPr>
          <a:xfrm>
            <a:off x="7777282" y="4191000"/>
            <a:ext cx="5802035" cy="362903"/>
          </a:xfrm>
          <a:prstGeom prst="rect">
            <a:avLst/>
          </a:prstGeom>
          <a:noFill/>
          <a:ln/>
        </p:spPr>
        <p:txBody>
          <a:bodyPr wrap="none" lIns="0" tIns="0" rIns="0" bIns="0" rtlCol="0" anchor="t"/>
          <a:lstStyle/>
          <a:p>
            <a:pPr marL="342900" indent="-342900" algn="l">
              <a:lnSpc>
                <a:spcPts val="2850"/>
              </a:lnSpc>
              <a:buSzPct val="100000"/>
              <a:buChar char="•"/>
            </a:pPr>
            <a:endParaRPr lang="en-US" sz="1750" dirty="0"/>
          </a:p>
        </p:txBody>
      </p:sp>
      <p:sp>
        <p:nvSpPr>
          <p:cNvPr id="18" name="Text 16"/>
          <p:cNvSpPr/>
          <p:nvPr/>
        </p:nvSpPr>
        <p:spPr>
          <a:xfrm>
            <a:off x="7777282" y="4633198"/>
            <a:ext cx="5802035" cy="378143"/>
          </a:xfrm>
          <a:prstGeom prst="rect">
            <a:avLst/>
          </a:prstGeom>
          <a:noFill/>
          <a:ln/>
        </p:spPr>
        <p:txBody>
          <a:bodyPr wrap="none" lIns="0" tIns="0" rIns="0" bIns="0" rtlCol="0" anchor="t"/>
          <a:lstStyle/>
          <a:p>
            <a:pPr marL="342900" indent="-342900" algn="l">
              <a:lnSpc>
                <a:spcPts val="2850"/>
              </a:lnSpc>
              <a:buSzPct val="100000"/>
              <a:buChar char="•"/>
            </a:pPr>
            <a:endParaRPr lang="en-US" sz="1750" dirty="0"/>
          </a:p>
        </p:txBody>
      </p:sp>
      <p:sp>
        <p:nvSpPr>
          <p:cNvPr id="19" name="Text 17"/>
          <p:cNvSpPr/>
          <p:nvPr/>
        </p:nvSpPr>
        <p:spPr>
          <a:xfrm>
            <a:off x="7777282" y="5090636"/>
            <a:ext cx="5802035" cy="362903"/>
          </a:xfrm>
          <a:prstGeom prst="rect">
            <a:avLst/>
          </a:prstGeom>
          <a:noFill/>
          <a:ln/>
        </p:spPr>
        <p:txBody>
          <a:bodyPr wrap="none" lIns="0" tIns="0" rIns="0" bIns="0" rtlCol="0" anchor="t"/>
          <a:lstStyle/>
          <a:p>
            <a:pPr marL="342900" indent="-342900" algn="l">
              <a:lnSpc>
                <a:spcPts val="2850"/>
              </a:lnSpc>
              <a:buSzPct val="100000"/>
              <a:buChar char="•"/>
            </a:pPr>
            <a:endParaRPr lang="en-US" sz="1750" dirty="0"/>
          </a:p>
        </p:txBody>
      </p:sp>
      <p:sp>
        <p:nvSpPr>
          <p:cNvPr id="20" name="Text 18"/>
          <p:cNvSpPr/>
          <p:nvPr/>
        </p:nvSpPr>
        <p:spPr>
          <a:xfrm>
            <a:off x="7777282" y="5532834"/>
            <a:ext cx="5802035" cy="725805"/>
          </a:xfrm>
          <a:prstGeom prst="rect">
            <a:avLst/>
          </a:prstGeom>
          <a:noFill/>
          <a:ln/>
        </p:spPr>
        <p:txBody>
          <a:bodyPr wrap="square" lIns="0" tIns="0" rIns="0" bIns="0" rtlCol="0" anchor="t"/>
          <a:lstStyle/>
          <a:p>
            <a:pPr marL="342900" indent="-342900" algn="l">
              <a:lnSpc>
                <a:spcPts val="2850"/>
              </a:lnSpc>
              <a:buSzPct val="100000"/>
              <a:buChar char="•"/>
            </a:pPr>
            <a:endParaRPr lang="en-US" sz="1750" dirty="0"/>
          </a:p>
        </p:txBody>
      </p:sp>
      <p:pic>
        <p:nvPicPr>
          <p:cNvPr id="1026" name="Picture 2" descr="Isolation Forest: learned iForest construction for toy dataset | Download  Scientific Diagram">
            <a:extLst>
              <a:ext uri="{FF2B5EF4-FFF2-40B4-BE49-F238E27FC236}">
                <a16:creationId xmlns:a16="http://schemas.microsoft.com/office/drawing/2014/main" id="{E086E091-348B-83BB-47E9-424695610B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7456" y="2248615"/>
            <a:ext cx="6092693" cy="4705349"/>
          </a:xfrm>
          <a:prstGeom prst="rect">
            <a:avLst/>
          </a:prstGeom>
          <a:noFill/>
          <a:extLst>
            <a:ext uri="{909E8E84-426E-40DD-AFC4-6F175D3DCCD1}">
              <a14:hiddenFill xmlns:a14="http://schemas.microsoft.com/office/drawing/2010/main">
                <a:solidFill>
                  <a:srgbClr val="FFFFFF"/>
                </a:solidFill>
              </a14:hiddenFill>
            </a:ext>
          </a:extLst>
        </p:spPr>
      </p:pic>
      <p:sp>
        <p:nvSpPr>
          <p:cNvPr id="22" name="Rectangle 4">
            <a:extLst>
              <a:ext uri="{FF2B5EF4-FFF2-40B4-BE49-F238E27FC236}">
                <a16:creationId xmlns:a16="http://schemas.microsoft.com/office/drawing/2014/main" id="{000D87B4-4E05-B71C-F04F-1B873BF199D4}"/>
              </a:ext>
            </a:extLst>
          </p:cNvPr>
          <p:cNvSpPr>
            <a:spLocks noChangeArrowheads="1"/>
          </p:cNvSpPr>
          <p:nvPr/>
        </p:nvSpPr>
        <p:spPr bwMode="auto">
          <a:xfrm>
            <a:off x="7550468" y="1653734"/>
            <a:ext cx="6296891"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Random Partitioning:</a:t>
            </a:r>
            <a:r>
              <a:rPr kumimoji="0" lang="en-US" altLang="en-US" sz="1600" b="0" i="0" u="none" strike="noStrike" cap="none" normalizeH="0" baseline="0" dirty="0">
                <a:ln>
                  <a:noFill/>
                </a:ln>
                <a:solidFill>
                  <a:schemeClr val="tx1"/>
                </a:solidFill>
                <a:effectLst/>
                <a:latin typeface="Arial" panose="020B0604020202020204" pitchFamily="34" charset="0"/>
              </a:rPr>
              <a:t> The algorithm builds binary decision trees by recursively selecting a random feature and making a random split within that feature's range to divide the dataset.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Isolation Path:</a:t>
            </a:r>
            <a:r>
              <a:rPr kumimoji="0" lang="en-US" altLang="en-US" sz="1600" b="0" i="0" u="none" strike="noStrike" cap="none" normalizeH="0" baseline="0" dirty="0">
                <a:ln>
                  <a:noFill/>
                </a:ln>
                <a:solidFill>
                  <a:schemeClr val="tx1"/>
                </a:solidFill>
                <a:effectLst/>
                <a:latin typeface="Arial" panose="020B0604020202020204" pitchFamily="34" charset="0"/>
              </a:rPr>
              <a:t> The number of splits required to completely isolate a specific data point is recorded as its "isolation path." Anomalies naturally require fewer splits to be isolated because they are significantly different from the rest of the data.</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Ensemble of Trees:</a:t>
            </a:r>
            <a:r>
              <a:rPr kumimoji="0" lang="en-US" altLang="en-US" sz="1600" b="0" i="0" u="none" strike="noStrike" cap="none" normalizeH="0" baseline="0" dirty="0">
                <a:ln>
                  <a:noFill/>
                </a:ln>
                <a:solidFill>
                  <a:schemeClr val="tx1"/>
                </a:solidFill>
                <a:effectLst/>
                <a:latin typeface="Arial" panose="020B0604020202020204" pitchFamily="34" charset="0"/>
              </a:rPr>
              <a:t> Instead of relying on a single tree, the algorithm builds a "forest" of multiple independent trees with diverse random splits, ensuring the model's robustness and reliability.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Anomaly Scoring:</a:t>
            </a:r>
            <a:r>
              <a:rPr kumimoji="0" lang="en-US" altLang="en-US" sz="1600" b="0" i="0" u="none" strike="noStrike" cap="none" normalizeH="0" baseline="0" dirty="0">
                <a:ln>
                  <a:noFill/>
                </a:ln>
                <a:solidFill>
                  <a:schemeClr val="tx1"/>
                </a:solidFill>
                <a:effectLst/>
                <a:latin typeface="Arial" panose="020B0604020202020204" pitchFamily="34" charset="0"/>
              </a:rPr>
              <a:t> Each data point receives an anomaly score based on the average length of its isolation paths across all the trees in the forest. Shorter average paths strongly indicate that the point is an anomaly.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Classification:</a:t>
            </a:r>
            <a:r>
              <a:rPr kumimoji="0" lang="en-US" altLang="en-US" sz="1600" b="0" i="0" u="none" strike="noStrike" cap="none" normalizeH="0" baseline="0" dirty="0">
                <a:ln>
                  <a:noFill/>
                </a:ln>
                <a:solidFill>
                  <a:schemeClr val="tx1"/>
                </a:solidFill>
                <a:effectLst/>
                <a:latin typeface="Arial" panose="020B0604020202020204" pitchFamily="34" charset="0"/>
              </a:rPr>
              <a:t> Finally, a predetermined threshold is applied to the anomaly scores; data points scoring above this threshold are classified as anomalies, while those below are classified as normal network traffic.</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name="Slide 6">
    <p:spTree>
      <p:nvGrpSpPr>
        <p:cNvPr id="1" name=""/>
        <p:cNvGrpSpPr/>
        <p:nvPr/>
      </p:nvGrpSpPr>
      <p:grpSpPr>
        <a:xfrm>
          <a:off x="0" y="0"/>
          <a:ext cx="0" cy="0"/>
          <a:chOff x="0" y="0"/>
          <a:chExt cx="0" cy="0"/>
        </a:xfrm>
      </p:grpSpPr>
      <p:sp>
        <p:nvSpPr>
          <p:cNvPr id="3" name="Text 0"/>
          <p:cNvSpPr/>
          <p:nvPr/>
        </p:nvSpPr>
        <p:spPr>
          <a:xfrm>
            <a:off x="725567" y="856655"/>
            <a:ext cx="7692866" cy="1295638"/>
          </a:xfrm>
          <a:prstGeom prst="rect">
            <a:avLst/>
          </a:prstGeom>
          <a:noFill/>
          <a:ln/>
        </p:spPr>
        <p:txBody>
          <a:bodyPr wrap="square" lIns="0" tIns="0" rIns="0" bIns="0" rtlCol="0" anchor="t"/>
          <a:lstStyle/>
          <a:p>
            <a:pPr marL="0" indent="0" algn="l">
              <a:lnSpc>
                <a:spcPts val="5100"/>
              </a:lnSpc>
              <a:buNone/>
            </a:pPr>
            <a:r>
              <a:rPr lang="en-US" sz="4050" dirty="0">
                <a:solidFill>
                  <a:srgbClr val="124E73"/>
                </a:solidFill>
                <a:latin typeface="MuseoModerno Medium" pitchFamily="34" charset="0"/>
                <a:ea typeface="MuseoModerno Medium" pitchFamily="34" charset="-122"/>
                <a:cs typeface="MuseoModerno Medium" pitchFamily="34" charset="-120"/>
              </a:rPr>
              <a:t>Data Preprocessing: Preparing Network Data for Detection</a:t>
            </a:r>
            <a:endParaRPr lang="en-US" sz="4050" dirty="0"/>
          </a:p>
        </p:txBody>
      </p:sp>
      <p:pic>
        <p:nvPicPr>
          <p:cNvPr id="4" name="Image 1" descr="preencoded.png"/>
          <p:cNvPicPr>
            <a:picLocks noChangeAspect="1"/>
          </p:cNvPicPr>
          <p:nvPr/>
        </p:nvPicPr>
        <p:blipFill>
          <a:blip r:embed="rId3"/>
          <a:stretch>
            <a:fillRect/>
          </a:stretch>
        </p:blipFill>
        <p:spPr>
          <a:xfrm>
            <a:off x="725567" y="2463165"/>
            <a:ext cx="1036558" cy="1526024"/>
          </a:xfrm>
          <a:prstGeom prst="rect">
            <a:avLst/>
          </a:prstGeom>
        </p:spPr>
      </p:pic>
      <p:sp>
        <p:nvSpPr>
          <p:cNvPr id="5" name="Text 1"/>
          <p:cNvSpPr/>
          <p:nvPr/>
        </p:nvSpPr>
        <p:spPr>
          <a:xfrm>
            <a:off x="1969413" y="2670453"/>
            <a:ext cx="2591395" cy="323969"/>
          </a:xfrm>
          <a:prstGeom prst="rect">
            <a:avLst/>
          </a:prstGeom>
          <a:noFill/>
          <a:ln/>
        </p:spPr>
        <p:txBody>
          <a:bodyPr wrap="none" lIns="0" tIns="0" rIns="0" bIns="0" rtlCol="0" anchor="t"/>
          <a:lstStyle/>
          <a:p>
            <a:pPr marL="0" indent="0" algn="l">
              <a:lnSpc>
                <a:spcPts val="2550"/>
              </a:lnSpc>
              <a:buNone/>
            </a:pPr>
            <a:r>
              <a:rPr lang="en-US" sz="2000" dirty="0">
                <a:solidFill>
                  <a:srgbClr val="2B4150"/>
                </a:solidFill>
                <a:latin typeface="MuseoModerno Medium" pitchFamily="34" charset="0"/>
                <a:ea typeface="MuseoModerno Medium" pitchFamily="34" charset="-122"/>
                <a:cs typeface="MuseoModerno Medium" pitchFamily="34" charset="-120"/>
              </a:rPr>
              <a:t>Raw Data Collection</a:t>
            </a:r>
            <a:endParaRPr lang="en-US" sz="2000" dirty="0"/>
          </a:p>
        </p:txBody>
      </p:sp>
      <p:sp>
        <p:nvSpPr>
          <p:cNvPr id="6" name="Text 2"/>
          <p:cNvSpPr/>
          <p:nvPr/>
        </p:nvSpPr>
        <p:spPr>
          <a:xfrm>
            <a:off x="1969413" y="3118723"/>
            <a:ext cx="6449020" cy="663178"/>
          </a:xfrm>
          <a:prstGeom prst="rect">
            <a:avLst/>
          </a:prstGeom>
          <a:noFill/>
          <a:ln/>
        </p:spPr>
        <p:txBody>
          <a:bodyPr wrap="square" lIns="0" tIns="0" rIns="0" bIns="0" rtlCol="0" anchor="t"/>
          <a:lstStyle/>
          <a:p>
            <a:pPr marL="0" indent="0" algn="l">
              <a:lnSpc>
                <a:spcPts val="2600"/>
              </a:lnSpc>
              <a:buNone/>
            </a:pPr>
            <a:r>
              <a:rPr lang="en-US" sz="1600" dirty="0">
                <a:solidFill>
                  <a:srgbClr val="2B4150"/>
                </a:solidFill>
                <a:latin typeface="Source Sans 3" pitchFamily="34" charset="0"/>
                <a:ea typeface="Source Sans 3" pitchFamily="34" charset="-122"/>
                <a:cs typeface="Source Sans 3" pitchFamily="34" charset="-120"/>
              </a:rPr>
              <a:t>Network data includes packet metadata, connection duration, protocol types, flags, and traffic flow characteristics.</a:t>
            </a:r>
            <a:endParaRPr lang="en-US" sz="1600" dirty="0"/>
          </a:p>
        </p:txBody>
      </p:sp>
      <p:pic>
        <p:nvPicPr>
          <p:cNvPr id="7" name="Image 2" descr="preencoded.png"/>
          <p:cNvPicPr>
            <a:picLocks noChangeAspect="1"/>
          </p:cNvPicPr>
          <p:nvPr/>
        </p:nvPicPr>
        <p:blipFill>
          <a:blip r:embed="rId4"/>
          <a:stretch>
            <a:fillRect/>
          </a:stretch>
        </p:blipFill>
        <p:spPr>
          <a:xfrm>
            <a:off x="725567" y="3989189"/>
            <a:ext cx="1036558" cy="1857613"/>
          </a:xfrm>
          <a:prstGeom prst="rect">
            <a:avLst/>
          </a:prstGeom>
        </p:spPr>
      </p:pic>
      <p:sp>
        <p:nvSpPr>
          <p:cNvPr id="8" name="Text 3"/>
          <p:cNvSpPr/>
          <p:nvPr/>
        </p:nvSpPr>
        <p:spPr>
          <a:xfrm>
            <a:off x="1969413" y="4196477"/>
            <a:ext cx="2592943" cy="323969"/>
          </a:xfrm>
          <a:prstGeom prst="rect">
            <a:avLst/>
          </a:prstGeom>
          <a:noFill/>
          <a:ln/>
        </p:spPr>
        <p:txBody>
          <a:bodyPr wrap="none" lIns="0" tIns="0" rIns="0" bIns="0" rtlCol="0" anchor="t"/>
          <a:lstStyle/>
          <a:p>
            <a:pPr marL="0" indent="0" algn="l">
              <a:lnSpc>
                <a:spcPts val="2550"/>
              </a:lnSpc>
              <a:buNone/>
            </a:pPr>
            <a:r>
              <a:rPr lang="en-US" sz="2000" dirty="0">
                <a:solidFill>
                  <a:srgbClr val="2B4150"/>
                </a:solidFill>
                <a:latin typeface="MuseoModerno Medium" pitchFamily="34" charset="0"/>
                <a:ea typeface="MuseoModerno Medium" pitchFamily="34" charset="-122"/>
                <a:cs typeface="MuseoModerno Medium" pitchFamily="34" charset="-120"/>
              </a:rPr>
              <a:t>Data Transformation</a:t>
            </a:r>
            <a:endParaRPr lang="en-US" sz="2000" dirty="0"/>
          </a:p>
        </p:txBody>
      </p:sp>
      <p:sp>
        <p:nvSpPr>
          <p:cNvPr id="9" name="Text 4"/>
          <p:cNvSpPr/>
          <p:nvPr/>
        </p:nvSpPr>
        <p:spPr>
          <a:xfrm>
            <a:off x="1969413" y="4644747"/>
            <a:ext cx="6449020" cy="994767"/>
          </a:xfrm>
          <a:prstGeom prst="rect">
            <a:avLst/>
          </a:prstGeom>
          <a:noFill/>
          <a:ln/>
        </p:spPr>
        <p:txBody>
          <a:bodyPr wrap="square" lIns="0" tIns="0" rIns="0" bIns="0" rtlCol="0" anchor="t"/>
          <a:lstStyle/>
          <a:p>
            <a:pPr marL="0" indent="0" algn="l">
              <a:lnSpc>
                <a:spcPts val="2600"/>
              </a:lnSpc>
              <a:buNone/>
            </a:pPr>
            <a:r>
              <a:rPr lang="en-US" sz="1600" dirty="0">
                <a:solidFill>
                  <a:srgbClr val="2B4150"/>
                </a:solidFill>
                <a:latin typeface="Source Sans 3" pitchFamily="34" charset="0"/>
                <a:ea typeface="Source Sans 3" pitchFamily="34" charset="-122"/>
                <a:cs typeface="Source Sans 3" pitchFamily="34" charset="-120"/>
              </a:rPr>
              <a:t>Normalisation using min-max scaling, feature extraction, and dimensionality reduction to handle high-dimensional network datasets effectively.</a:t>
            </a:r>
            <a:endParaRPr lang="en-US" sz="1600" dirty="0"/>
          </a:p>
        </p:txBody>
      </p:sp>
      <p:pic>
        <p:nvPicPr>
          <p:cNvPr id="10" name="Image 3" descr="preencoded.png"/>
          <p:cNvPicPr>
            <a:picLocks noChangeAspect="1"/>
          </p:cNvPicPr>
          <p:nvPr/>
        </p:nvPicPr>
        <p:blipFill>
          <a:blip r:embed="rId5"/>
          <a:stretch>
            <a:fillRect/>
          </a:stretch>
        </p:blipFill>
        <p:spPr>
          <a:xfrm>
            <a:off x="725567" y="5846802"/>
            <a:ext cx="1036558" cy="1526024"/>
          </a:xfrm>
          <a:prstGeom prst="rect">
            <a:avLst/>
          </a:prstGeom>
        </p:spPr>
      </p:pic>
      <p:sp>
        <p:nvSpPr>
          <p:cNvPr id="11" name="Text 5"/>
          <p:cNvSpPr/>
          <p:nvPr/>
        </p:nvSpPr>
        <p:spPr>
          <a:xfrm>
            <a:off x="1969413" y="6054090"/>
            <a:ext cx="2591395" cy="323969"/>
          </a:xfrm>
          <a:prstGeom prst="rect">
            <a:avLst/>
          </a:prstGeom>
          <a:noFill/>
          <a:ln/>
        </p:spPr>
        <p:txBody>
          <a:bodyPr wrap="none" lIns="0" tIns="0" rIns="0" bIns="0" rtlCol="0" anchor="t"/>
          <a:lstStyle/>
          <a:p>
            <a:pPr marL="0" indent="0" algn="l">
              <a:lnSpc>
                <a:spcPts val="2550"/>
              </a:lnSpc>
              <a:buNone/>
            </a:pPr>
            <a:r>
              <a:rPr lang="en-US" sz="2000" dirty="0">
                <a:solidFill>
                  <a:srgbClr val="2B4150"/>
                </a:solidFill>
                <a:latin typeface="MuseoModerno Medium" pitchFamily="34" charset="0"/>
                <a:ea typeface="MuseoModerno Medium" pitchFamily="34" charset="-122"/>
                <a:cs typeface="MuseoModerno Medium" pitchFamily="34" charset="-120"/>
              </a:rPr>
              <a:t>Feature Engineering</a:t>
            </a:r>
            <a:endParaRPr lang="en-US" sz="2000" dirty="0"/>
          </a:p>
        </p:txBody>
      </p:sp>
      <p:sp>
        <p:nvSpPr>
          <p:cNvPr id="12" name="Text 6"/>
          <p:cNvSpPr/>
          <p:nvPr/>
        </p:nvSpPr>
        <p:spPr>
          <a:xfrm>
            <a:off x="1969413" y="6502360"/>
            <a:ext cx="6449020" cy="663178"/>
          </a:xfrm>
          <a:prstGeom prst="rect">
            <a:avLst/>
          </a:prstGeom>
          <a:noFill/>
          <a:ln/>
        </p:spPr>
        <p:txBody>
          <a:bodyPr wrap="square" lIns="0" tIns="0" rIns="0" bIns="0" rtlCol="0" anchor="t"/>
          <a:lstStyle/>
          <a:p>
            <a:pPr marL="0" indent="0" algn="l">
              <a:lnSpc>
                <a:spcPts val="2600"/>
              </a:lnSpc>
              <a:buNone/>
            </a:pPr>
            <a:r>
              <a:rPr lang="en-US" sz="1600" dirty="0">
                <a:solidFill>
                  <a:srgbClr val="2B4150"/>
                </a:solidFill>
                <a:latin typeface="Source Sans 3" pitchFamily="34" charset="0"/>
                <a:ea typeface="Source Sans 3" pitchFamily="34" charset="-122"/>
                <a:cs typeface="Source Sans 3" pitchFamily="34" charset="-120"/>
              </a:rPr>
              <a:t>Hybrid feature engineering techniques including deep feature synthesis enhance meaningful pattern discovery and model performance.</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name="Slide 7">
    <p:spTree>
      <p:nvGrpSpPr>
        <p:cNvPr id="1" name=""/>
        <p:cNvGrpSpPr/>
        <p:nvPr/>
      </p:nvGrpSpPr>
      <p:grpSpPr>
        <a:xfrm>
          <a:off x="0" y="0"/>
          <a:ext cx="0" cy="0"/>
          <a:chOff x="0" y="0"/>
          <a:chExt cx="0" cy="0"/>
        </a:xfrm>
      </p:grpSpPr>
      <p:sp>
        <p:nvSpPr>
          <p:cNvPr id="3" name="Text 0"/>
          <p:cNvSpPr/>
          <p:nvPr/>
        </p:nvSpPr>
        <p:spPr>
          <a:xfrm>
            <a:off x="892731" y="3802678"/>
            <a:ext cx="13241655" cy="1239917"/>
          </a:xfrm>
          <a:prstGeom prst="rect">
            <a:avLst/>
          </a:prstGeom>
          <a:noFill/>
          <a:ln/>
        </p:spPr>
        <p:txBody>
          <a:bodyPr wrap="square" lIns="0" tIns="0" rIns="0" bIns="0" rtlCol="0" anchor="t"/>
          <a:lstStyle/>
          <a:p>
            <a:pPr marL="0" indent="0" algn="l">
              <a:lnSpc>
                <a:spcPts val="4850"/>
              </a:lnSpc>
              <a:buNone/>
            </a:pPr>
            <a:r>
              <a:rPr lang="en-US" sz="3900" dirty="0">
                <a:solidFill>
                  <a:srgbClr val="124E73"/>
                </a:solidFill>
                <a:latin typeface="MuseoModerno Medium" pitchFamily="34" charset="0"/>
                <a:ea typeface="MuseoModerno Medium" pitchFamily="34" charset="-122"/>
                <a:cs typeface="MuseoModerno Medium" pitchFamily="34" charset="-120"/>
              </a:rPr>
              <a:t> Outcomes: Benefits of Anomaly Detection in IDS</a:t>
            </a:r>
            <a:endParaRPr lang="en-US" sz="3900" dirty="0"/>
          </a:p>
        </p:txBody>
      </p:sp>
      <p:sp>
        <p:nvSpPr>
          <p:cNvPr id="4" name="Shape 1"/>
          <p:cNvSpPr/>
          <p:nvPr/>
        </p:nvSpPr>
        <p:spPr>
          <a:xfrm>
            <a:off x="694373" y="4564142"/>
            <a:ext cx="6521648" cy="1460183"/>
          </a:xfrm>
          <a:prstGeom prst="roundRect">
            <a:avLst>
              <a:gd name="adj" fmla="val 32611"/>
            </a:avLst>
          </a:prstGeom>
          <a:solidFill>
            <a:srgbClr val="F3EEE3"/>
          </a:solidFill>
          <a:ln/>
        </p:spPr>
        <p:txBody>
          <a:bodyPr/>
          <a:lstStyle/>
          <a:p>
            <a:endParaRPr lang="en-IN"/>
          </a:p>
        </p:txBody>
      </p:sp>
      <p:sp>
        <p:nvSpPr>
          <p:cNvPr id="5" name="Text 2"/>
          <p:cNvSpPr/>
          <p:nvPr/>
        </p:nvSpPr>
        <p:spPr>
          <a:xfrm>
            <a:off x="892731" y="4762500"/>
            <a:ext cx="2618303" cy="309920"/>
          </a:xfrm>
          <a:prstGeom prst="rect">
            <a:avLst/>
          </a:prstGeom>
          <a:noFill/>
          <a:ln/>
        </p:spPr>
        <p:txBody>
          <a:bodyPr wrap="none" lIns="0" tIns="0" rIns="0" bIns="0" rtlCol="0" anchor="t"/>
          <a:lstStyle/>
          <a:p>
            <a:pPr marL="0" indent="0" algn="l">
              <a:lnSpc>
                <a:spcPts val="2400"/>
              </a:lnSpc>
              <a:buNone/>
            </a:pPr>
            <a:r>
              <a:rPr lang="en-US" sz="1950" dirty="0">
                <a:solidFill>
                  <a:srgbClr val="2B4150"/>
                </a:solidFill>
                <a:latin typeface="MuseoModerno Medium" pitchFamily="34" charset="0"/>
                <a:ea typeface="MuseoModerno Medium" pitchFamily="34" charset="-122"/>
                <a:cs typeface="MuseoModerno Medium" pitchFamily="34" charset="-120"/>
              </a:rPr>
              <a:t>Early Threat Detection</a:t>
            </a:r>
            <a:endParaRPr lang="en-US" sz="1950" dirty="0"/>
          </a:p>
        </p:txBody>
      </p:sp>
      <p:sp>
        <p:nvSpPr>
          <p:cNvPr id="6" name="Text 3"/>
          <p:cNvSpPr/>
          <p:nvPr/>
        </p:nvSpPr>
        <p:spPr>
          <a:xfrm>
            <a:off x="892731" y="5191363"/>
            <a:ext cx="6124932" cy="634603"/>
          </a:xfrm>
          <a:prstGeom prst="rect">
            <a:avLst/>
          </a:prstGeom>
          <a:noFill/>
          <a:ln/>
        </p:spPr>
        <p:txBody>
          <a:bodyPr wrap="square" lIns="0" tIns="0" rIns="0" bIns="0" rtlCol="0" anchor="t"/>
          <a:lstStyle/>
          <a:p>
            <a:pPr marL="0" indent="0" algn="l">
              <a:lnSpc>
                <a:spcPts val="2450"/>
              </a:lnSpc>
              <a:buNone/>
            </a:pPr>
            <a:r>
              <a:rPr lang="en-US" sz="1550" dirty="0">
                <a:solidFill>
                  <a:srgbClr val="2B4150"/>
                </a:solidFill>
                <a:latin typeface="Source Sans 3" pitchFamily="34" charset="0"/>
                <a:ea typeface="Source Sans 3" pitchFamily="34" charset="-122"/>
                <a:cs typeface="Source Sans 3" pitchFamily="34" charset="-120"/>
              </a:rPr>
              <a:t>Rapid identification of novel and unknown attacks, significantly reducing potential breach impact and system compromise.</a:t>
            </a:r>
            <a:endParaRPr lang="en-US" sz="1550" dirty="0"/>
          </a:p>
        </p:txBody>
      </p:sp>
      <p:sp>
        <p:nvSpPr>
          <p:cNvPr id="7" name="Shape 4"/>
          <p:cNvSpPr/>
          <p:nvPr/>
        </p:nvSpPr>
        <p:spPr>
          <a:xfrm>
            <a:off x="7414379" y="4564142"/>
            <a:ext cx="6521648" cy="1460183"/>
          </a:xfrm>
          <a:prstGeom prst="roundRect">
            <a:avLst>
              <a:gd name="adj" fmla="val 32611"/>
            </a:avLst>
          </a:prstGeom>
          <a:solidFill>
            <a:srgbClr val="F3EEE3"/>
          </a:solidFill>
          <a:ln/>
        </p:spPr>
        <p:txBody>
          <a:bodyPr/>
          <a:lstStyle/>
          <a:p>
            <a:endParaRPr lang="en-IN"/>
          </a:p>
        </p:txBody>
      </p:sp>
      <p:sp>
        <p:nvSpPr>
          <p:cNvPr id="8" name="Text 5"/>
          <p:cNvSpPr/>
          <p:nvPr/>
        </p:nvSpPr>
        <p:spPr>
          <a:xfrm>
            <a:off x="7612737" y="4762500"/>
            <a:ext cx="2480072" cy="309920"/>
          </a:xfrm>
          <a:prstGeom prst="rect">
            <a:avLst/>
          </a:prstGeom>
          <a:noFill/>
          <a:ln/>
        </p:spPr>
        <p:txBody>
          <a:bodyPr wrap="none" lIns="0" tIns="0" rIns="0" bIns="0" rtlCol="0" anchor="t"/>
          <a:lstStyle/>
          <a:p>
            <a:pPr marL="0" indent="0" algn="l">
              <a:lnSpc>
                <a:spcPts val="2400"/>
              </a:lnSpc>
              <a:buNone/>
            </a:pPr>
            <a:r>
              <a:rPr lang="en-US" sz="1950" dirty="0">
                <a:solidFill>
                  <a:srgbClr val="2B4150"/>
                </a:solidFill>
                <a:latin typeface="MuseoModerno Medium" pitchFamily="34" charset="0"/>
                <a:ea typeface="MuseoModerno Medium" pitchFamily="34" charset="-122"/>
                <a:cs typeface="MuseoModerno Medium" pitchFamily="34" charset="-120"/>
              </a:rPr>
              <a:t>Enhanced Visibility</a:t>
            </a:r>
            <a:endParaRPr lang="en-US" sz="1950" dirty="0"/>
          </a:p>
        </p:txBody>
      </p:sp>
      <p:sp>
        <p:nvSpPr>
          <p:cNvPr id="9" name="Text 6"/>
          <p:cNvSpPr/>
          <p:nvPr/>
        </p:nvSpPr>
        <p:spPr>
          <a:xfrm>
            <a:off x="7612737" y="5191363"/>
            <a:ext cx="6124932" cy="634603"/>
          </a:xfrm>
          <a:prstGeom prst="rect">
            <a:avLst/>
          </a:prstGeom>
          <a:noFill/>
          <a:ln/>
        </p:spPr>
        <p:txBody>
          <a:bodyPr wrap="square" lIns="0" tIns="0" rIns="0" bIns="0" rtlCol="0" anchor="t"/>
          <a:lstStyle/>
          <a:p>
            <a:pPr marL="0" indent="0" algn="l">
              <a:lnSpc>
                <a:spcPts val="2450"/>
              </a:lnSpc>
              <a:buNone/>
            </a:pPr>
            <a:r>
              <a:rPr lang="en-US" sz="1550" dirty="0">
                <a:solidFill>
                  <a:srgbClr val="2B4150"/>
                </a:solidFill>
                <a:latin typeface="Source Sans 3" pitchFamily="34" charset="0"/>
                <a:ea typeface="Source Sans 3" pitchFamily="34" charset="-122"/>
                <a:cs typeface="Source Sans 3" pitchFamily="34" charset="-120"/>
              </a:rPr>
              <a:t>Improved network visibility and situational awareness, empowering security teams with actionable intelligence.</a:t>
            </a:r>
            <a:endParaRPr lang="en-US" sz="1550" dirty="0"/>
          </a:p>
        </p:txBody>
      </p:sp>
      <p:sp>
        <p:nvSpPr>
          <p:cNvPr id="10" name="Shape 7"/>
          <p:cNvSpPr/>
          <p:nvPr/>
        </p:nvSpPr>
        <p:spPr>
          <a:xfrm>
            <a:off x="694373" y="6222683"/>
            <a:ext cx="6521648" cy="1460183"/>
          </a:xfrm>
          <a:prstGeom prst="roundRect">
            <a:avLst>
              <a:gd name="adj" fmla="val 32611"/>
            </a:avLst>
          </a:prstGeom>
          <a:solidFill>
            <a:srgbClr val="F3EEE3"/>
          </a:solidFill>
          <a:ln/>
        </p:spPr>
        <p:txBody>
          <a:bodyPr/>
          <a:lstStyle/>
          <a:p>
            <a:endParaRPr lang="en-IN"/>
          </a:p>
        </p:txBody>
      </p:sp>
      <p:sp>
        <p:nvSpPr>
          <p:cNvPr id="11" name="Text 8"/>
          <p:cNvSpPr/>
          <p:nvPr/>
        </p:nvSpPr>
        <p:spPr>
          <a:xfrm>
            <a:off x="892731" y="6421041"/>
            <a:ext cx="2480072" cy="309920"/>
          </a:xfrm>
          <a:prstGeom prst="rect">
            <a:avLst/>
          </a:prstGeom>
          <a:noFill/>
          <a:ln/>
        </p:spPr>
        <p:txBody>
          <a:bodyPr wrap="none" lIns="0" tIns="0" rIns="0" bIns="0" rtlCol="0" anchor="t"/>
          <a:lstStyle/>
          <a:p>
            <a:pPr marL="0" indent="0" algn="l">
              <a:lnSpc>
                <a:spcPts val="2400"/>
              </a:lnSpc>
              <a:buNone/>
            </a:pPr>
            <a:r>
              <a:rPr lang="en-US" sz="1950" dirty="0">
                <a:solidFill>
                  <a:srgbClr val="2B4150"/>
                </a:solidFill>
                <a:latin typeface="MuseoModerno Medium" pitchFamily="34" charset="0"/>
                <a:ea typeface="MuseoModerno Medium" pitchFamily="34" charset="-122"/>
                <a:cs typeface="MuseoModerno Medium" pitchFamily="34" charset="-120"/>
              </a:rPr>
              <a:t>Adaptive Security</a:t>
            </a:r>
            <a:endParaRPr lang="en-US" sz="1950" dirty="0"/>
          </a:p>
        </p:txBody>
      </p:sp>
      <p:sp>
        <p:nvSpPr>
          <p:cNvPr id="12" name="Text 9"/>
          <p:cNvSpPr/>
          <p:nvPr/>
        </p:nvSpPr>
        <p:spPr>
          <a:xfrm>
            <a:off x="892731" y="6849904"/>
            <a:ext cx="6124932" cy="634603"/>
          </a:xfrm>
          <a:prstGeom prst="rect">
            <a:avLst/>
          </a:prstGeom>
          <a:noFill/>
          <a:ln/>
        </p:spPr>
        <p:txBody>
          <a:bodyPr wrap="square" lIns="0" tIns="0" rIns="0" bIns="0" rtlCol="0" anchor="t"/>
          <a:lstStyle/>
          <a:p>
            <a:pPr marL="0" indent="0" algn="l">
              <a:lnSpc>
                <a:spcPts val="2450"/>
              </a:lnSpc>
              <a:buNone/>
            </a:pPr>
            <a:r>
              <a:rPr lang="en-US" sz="1550" dirty="0">
                <a:solidFill>
                  <a:srgbClr val="2B4150"/>
                </a:solidFill>
                <a:latin typeface="Source Sans 3" pitchFamily="34" charset="0"/>
                <a:ea typeface="Source Sans 3" pitchFamily="34" charset="-122"/>
                <a:cs typeface="Source Sans 3" pitchFamily="34" charset="-120"/>
              </a:rPr>
              <a:t>Reduced reliance on signature databases, enabling dynamic and adaptive security postures against emerging threats.</a:t>
            </a:r>
            <a:endParaRPr lang="en-US" sz="1550" dirty="0"/>
          </a:p>
        </p:txBody>
      </p:sp>
      <p:sp>
        <p:nvSpPr>
          <p:cNvPr id="13" name="Shape 10"/>
          <p:cNvSpPr/>
          <p:nvPr/>
        </p:nvSpPr>
        <p:spPr>
          <a:xfrm>
            <a:off x="7414379" y="6222683"/>
            <a:ext cx="6521648" cy="1460183"/>
          </a:xfrm>
          <a:prstGeom prst="roundRect">
            <a:avLst>
              <a:gd name="adj" fmla="val 32611"/>
            </a:avLst>
          </a:prstGeom>
          <a:solidFill>
            <a:srgbClr val="F3EEE3"/>
          </a:solidFill>
          <a:ln/>
        </p:spPr>
        <p:txBody>
          <a:bodyPr/>
          <a:lstStyle/>
          <a:p>
            <a:endParaRPr lang="en-IN"/>
          </a:p>
        </p:txBody>
      </p:sp>
      <p:sp>
        <p:nvSpPr>
          <p:cNvPr id="14" name="Text 11"/>
          <p:cNvSpPr/>
          <p:nvPr/>
        </p:nvSpPr>
        <p:spPr>
          <a:xfrm>
            <a:off x="7612737" y="6421041"/>
            <a:ext cx="3026569" cy="309920"/>
          </a:xfrm>
          <a:prstGeom prst="rect">
            <a:avLst/>
          </a:prstGeom>
          <a:noFill/>
          <a:ln/>
        </p:spPr>
        <p:txBody>
          <a:bodyPr wrap="none" lIns="0" tIns="0" rIns="0" bIns="0" rtlCol="0" anchor="t"/>
          <a:lstStyle/>
          <a:p>
            <a:pPr marL="0" indent="0" algn="l">
              <a:lnSpc>
                <a:spcPts val="2400"/>
              </a:lnSpc>
              <a:buNone/>
            </a:pPr>
            <a:r>
              <a:rPr lang="en-US" sz="1950" dirty="0">
                <a:solidFill>
                  <a:srgbClr val="2B4150"/>
                </a:solidFill>
                <a:latin typeface="MuseoModerno Medium" pitchFamily="34" charset="0"/>
                <a:ea typeface="MuseoModerno Medium" pitchFamily="34" charset="-122"/>
                <a:cs typeface="MuseoModerno Medium" pitchFamily="34" charset="-120"/>
              </a:rPr>
              <a:t>Comprehensive Detection</a:t>
            </a:r>
            <a:endParaRPr lang="en-US" sz="1950" dirty="0"/>
          </a:p>
        </p:txBody>
      </p:sp>
      <p:sp>
        <p:nvSpPr>
          <p:cNvPr id="15" name="Text 12"/>
          <p:cNvSpPr/>
          <p:nvPr/>
        </p:nvSpPr>
        <p:spPr>
          <a:xfrm>
            <a:off x="7612737" y="6849904"/>
            <a:ext cx="6124932" cy="634603"/>
          </a:xfrm>
          <a:prstGeom prst="rect">
            <a:avLst/>
          </a:prstGeom>
          <a:noFill/>
          <a:ln/>
        </p:spPr>
        <p:txBody>
          <a:bodyPr wrap="square" lIns="0" tIns="0" rIns="0" bIns="0" rtlCol="0" anchor="t"/>
          <a:lstStyle/>
          <a:p>
            <a:pPr marL="0" indent="0" algn="l">
              <a:lnSpc>
                <a:spcPts val="2450"/>
              </a:lnSpc>
              <a:buNone/>
            </a:pPr>
            <a:r>
              <a:rPr lang="en-US" sz="1550" dirty="0">
                <a:solidFill>
                  <a:srgbClr val="2B4150"/>
                </a:solidFill>
                <a:latin typeface="Source Sans 3" pitchFamily="34" charset="0"/>
                <a:ea typeface="Source Sans 3" pitchFamily="34" charset="-122"/>
                <a:cs typeface="Source Sans 3" pitchFamily="34" charset="-120"/>
              </a:rPr>
              <a:t>Enhanced detection of subtle, contextual, and collective anomalies in complex network traffic patterns.</a:t>
            </a:r>
            <a:endParaRPr lang="en-US" sz="1550" dirty="0"/>
          </a:p>
        </p:txBody>
      </p:sp>
      <p:pic>
        <p:nvPicPr>
          <p:cNvPr id="17" name="Picture 16">
            <a:extLst>
              <a:ext uri="{FF2B5EF4-FFF2-40B4-BE49-F238E27FC236}">
                <a16:creationId xmlns:a16="http://schemas.microsoft.com/office/drawing/2014/main" id="{D1A1D9AE-7B1B-2866-3C38-F86DF219E2E1}"/>
              </a:ext>
            </a:extLst>
          </p:cNvPr>
          <p:cNvPicPr>
            <a:picLocks noChangeAspect="1"/>
          </p:cNvPicPr>
          <p:nvPr/>
        </p:nvPicPr>
        <p:blipFill>
          <a:blip r:embed="rId3"/>
          <a:stretch>
            <a:fillRect/>
          </a:stretch>
        </p:blipFill>
        <p:spPr>
          <a:xfrm>
            <a:off x="3400625" y="158223"/>
            <a:ext cx="6718627" cy="381814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name="Slide 8">
    <p:spTree>
      <p:nvGrpSpPr>
        <p:cNvPr id="1" name=""/>
        <p:cNvGrpSpPr/>
        <p:nvPr/>
      </p:nvGrpSpPr>
      <p:grpSpPr>
        <a:xfrm>
          <a:off x="0" y="0"/>
          <a:ext cx="0" cy="0"/>
          <a:chOff x="0" y="0"/>
          <a:chExt cx="0" cy="0"/>
        </a:xfrm>
      </p:grpSpPr>
      <p:sp>
        <p:nvSpPr>
          <p:cNvPr id="3" name="Text 0"/>
          <p:cNvSpPr/>
          <p:nvPr/>
        </p:nvSpPr>
        <p:spPr>
          <a:xfrm>
            <a:off x="523042" y="656868"/>
            <a:ext cx="4888349" cy="466963"/>
          </a:xfrm>
          <a:prstGeom prst="rect">
            <a:avLst/>
          </a:prstGeom>
          <a:noFill/>
          <a:ln/>
        </p:spPr>
        <p:txBody>
          <a:bodyPr wrap="none" lIns="0" tIns="0" rIns="0" bIns="0" rtlCol="0" anchor="t"/>
          <a:lstStyle/>
          <a:p>
            <a:pPr marL="0" indent="0" algn="l">
              <a:lnSpc>
                <a:spcPts val="3650"/>
              </a:lnSpc>
              <a:buNone/>
            </a:pPr>
            <a:r>
              <a:rPr lang="en-US" sz="2900" dirty="0">
                <a:solidFill>
                  <a:srgbClr val="124E73"/>
                </a:solidFill>
                <a:latin typeface="MuseoModerno Medium" pitchFamily="34" charset="0"/>
                <a:ea typeface="MuseoModerno Medium" pitchFamily="34" charset="-122"/>
                <a:cs typeface="MuseoModerno Medium" pitchFamily="34" charset="-120"/>
              </a:rPr>
              <a:t>Limitations and Challenges</a:t>
            </a:r>
            <a:endParaRPr lang="en-US" sz="2900" dirty="0"/>
          </a:p>
        </p:txBody>
      </p:sp>
      <p:sp>
        <p:nvSpPr>
          <p:cNvPr id="4" name="Shape 1"/>
          <p:cNvSpPr/>
          <p:nvPr/>
        </p:nvSpPr>
        <p:spPr>
          <a:xfrm>
            <a:off x="523042" y="1571982"/>
            <a:ext cx="12746149" cy="1339572"/>
          </a:xfrm>
          <a:prstGeom prst="roundRect">
            <a:avLst>
              <a:gd name="adj" fmla="val 5461"/>
            </a:avLst>
          </a:prstGeom>
          <a:solidFill>
            <a:srgbClr val="FFFCF5"/>
          </a:solidFill>
          <a:ln/>
        </p:spPr>
        <p:txBody>
          <a:bodyPr/>
          <a:lstStyle/>
          <a:p>
            <a:endParaRPr lang="en-IN"/>
          </a:p>
        </p:txBody>
      </p:sp>
      <p:sp>
        <p:nvSpPr>
          <p:cNvPr id="5" name="Shape 2"/>
          <p:cNvSpPr/>
          <p:nvPr/>
        </p:nvSpPr>
        <p:spPr>
          <a:xfrm>
            <a:off x="523042" y="1556742"/>
            <a:ext cx="8097917" cy="60960"/>
          </a:xfrm>
          <a:prstGeom prst="roundRect">
            <a:avLst>
              <a:gd name="adj" fmla="val 36775"/>
            </a:avLst>
          </a:prstGeom>
          <a:solidFill>
            <a:srgbClr val="325F7B"/>
          </a:solidFill>
          <a:ln/>
        </p:spPr>
        <p:txBody>
          <a:bodyPr/>
          <a:lstStyle/>
          <a:p>
            <a:endParaRPr lang="en-IN"/>
          </a:p>
        </p:txBody>
      </p:sp>
      <p:sp>
        <p:nvSpPr>
          <p:cNvPr id="6" name="Shape 3"/>
          <p:cNvSpPr/>
          <p:nvPr/>
        </p:nvSpPr>
        <p:spPr>
          <a:xfrm>
            <a:off x="4347865" y="1347907"/>
            <a:ext cx="448270" cy="448270"/>
          </a:xfrm>
          <a:prstGeom prst="roundRect">
            <a:avLst>
              <a:gd name="adj" fmla="val 203984"/>
            </a:avLst>
          </a:prstGeom>
          <a:solidFill>
            <a:srgbClr val="325F7B"/>
          </a:solidFill>
          <a:ln/>
        </p:spPr>
        <p:txBody>
          <a:bodyPr/>
          <a:lstStyle/>
          <a:p>
            <a:endParaRPr lang="en-IN"/>
          </a:p>
        </p:txBody>
      </p:sp>
      <p:sp>
        <p:nvSpPr>
          <p:cNvPr id="7" name="Text 4"/>
          <p:cNvSpPr/>
          <p:nvPr/>
        </p:nvSpPr>
        <p:spPr>
          <a:xfrm>
            <a:off x="4482286" y="1459944"/>
            <a:ext cx="179308" cy="224076"/>
          </a:xfrm>
          <a:prstGeom prst="rect">
            <a:avLst/>
          </a:prstGeom>
          <a:noFill/>
          <a:ln/>
        </p:spPr>
        <p:txBody>
          <a:bodyPr wrap="none" lIns="0" tIns="0" rIns="0" bIns="0" rtlCol="0" anchor="t"/>
          <a:lstStyle/>
          <a:p>
            <a:pPr marL="0" indent="0" algn="l">
              <a:lnSpc>
                <a:spcPts val="2250"/>
              </a:lnSpc>
              <a:buNone/>
            </a:pPr>
            <a:r>
              <a:rPr lang="en-US" sz="1400" dirty="0">
                <a:solidFill>
                  <a:srgbClr val="FFFFFF"/>
                </a:solidFill>
                <a:latin typeface="MuseoModerno Medium" pitchFamily="34" charset="0"/>
                <a:ea typeface="MuseoModerno Medium" pitchFamily="34" charset="-122"/>
                <a:cs typeface="MuseoModerno Medium" pitchFamily="34" charset="-120"/>
              </a:rPr>
              <a:t>1</a:t>
            </a:r>
            <a:endParaRPr lang="en-US" sz="1400" dirty="0"/>
          </a:p>
        </p:txBody>
      </p:sp>
      <p:sp>
        <p:nvSpPr>
          <p:cNvPr id="8" name="Text 5"/>
          <p:cNvSpPr/>
          <p:nvPr/>
        </p:nvSpPr>
        <p:spPr>
          <a:xfrm>
            <a:off x="687705" y="1945600"/>
            <a:ext cx="1868091" cy="233482"/>
          </a:xfrm>
          <a:prstGeom prst="rect">
            <a:avLst/>
          </a:prstGeom>
          <a:noFill/>
          <a:ln/>
        </p:spPr>
        <p:txBody>
          <a:bodyPr wrap="none" lIns="0" tIns="0" rIns="0" bIns="0" rtlCol="0" anchor="t"/>
          <a:lstStyle/>
          <a:p>
            <a:pPr marL="0" indent="0" algn="l">
              <a:lnSpc>
                <a:spcPts val="1800"/>
              </a:lnSpc>
              <a:buNone/>
            </a:pPr>
            <a:r>
              <a:rPr lang="en-US" sz="2800" b="1" dirty="0">
                <a:solidFill>
                  <a:srgbClr val="2B4150"/>
                </a:solidFill>
                <a:latin typeface="MuseoModerno Medium" pitchFamily="34" charset="0"/>
                <a:ea typeface="MuseoModerno Medium" pitchFamily="34" charset="-122"/>
                <a:cs typeface="MuseoModerno Medium" pitchFamily="34" charset="-120"/>
              </a:rPr>
              <a:t>False Positive Rates</a:t>
            </a:r>
            <a:endParaRPr lang="en-US" sz="2800" b="1" dirty="0"/>
          </a:p>
        </p:txBody>
      </p:sp>
      <p:sp>
        <p:nvSpPr>
          <p:cNvPr id="9" name="Text 6"/>
          <p:cNvSpPr/>
          <p:nvPr/>
        </p:nvSpPr>
        <p:spPr>
          <a:xfrm>
            <a:off x="687704" y="2268736"/>
            <a:ext cx="12384059" cy="478155"/>
          </a:xfrm>
          <a:prstGeom prst="rect">
            <a:avLst/>
          </a:prstGeom>
          <a:noFill/>
          <a:ln/>
        </p:spPr>
        <p:txBody>
          <a:bodyPr wrap="square" lIns="0" tIns="0" rIns="0" bIns="0" rtlCol="0" anchor="t"/>
          <a:lstStyle/>
          <a:p>
            <a:pPr marL="0" indent="0" algn="l">
              <a:lnSpc>
                <a:spcPts val="1850"/>
              </a:lnSpc>
              <a:buNone/>
            </a:pPr>
            <a:r>
              <a:rPr lang="en-US" sz="2000" dirty="0">
                <a:solidFill>
                  <a:srgbClr val="2B4150"/>
                </a:solidFill>
                <a:latin typeface="Times New Roman" panose="02020603050405020304" pitchFamily="18" charset="0"/>
                <a:ea typeface="Source Sans 3" pitchFamily="34" charset="-122"/>
                <a:cs typeface="Times New Roman" panose="02020603050405020304" pitchFamily="18" charset="0"/>
              </a:rPr>
              <a:t>High false positive rates due to dynamic network behaviour and noisy data environments requiring continuous model refinement.</a:t>
            </a:r>
            <a:endParaRPr lang="en-US" sz="2000" dirty="0">
              <a:latin typeface="Times New Roman" panose="02020603050405020304" pitchFamily="18" charset="0"/>
              <a:cs typeface="Times New Roman" panose="02020603050405020304" pitchFamily="18" charset="0"/>
            </a:endParaRPr>
          </a:p>
        </p:txBody>
      </p:sp>
      <p:sp>
        <p:nvSpPr>
          <p:cNvPr id="10" name="Shape 7"/>
          <p:cNvSpPr/>
          <p:nvPr/>
        </p:nvSpPr>
        <p:spPr>
          <a:xfrm>
            <a:off x="523042" y="3285053"/>
            <a:ext cx="12746149" cy="1100495"/>
          </a:xfrm>
          <a:prstGeom prst="roundRect">
            <a:avLst>
              <a:gd name="adj" fmla="val 6647"/>
            </a:avLst>
          </a:prstGeom>
          <a:solidFill>
            <a:srgbClr val="FFFCF5"/>
          </a:solidFill>
          <a:ln/>
        </p:spPr>
        <p:txBody>
          <a:bodyPr/>
          <a:lstStyle/>
          <a:p>
            <a:endParaRPr lang="en-IN"/>
          </a:p>
        </p:txBody>
      </p:sp>
      <p:sp>
        <p:nvSpPr>
          <p:cNvPr id="11" name="Shape 8"/>
          <p:cNvSpPr/>
          <p:nvPr/>
        </p:nvSpPr>
        <p:spPr>
          <a:xfrm>
            <a:off x="523042" y="3269813"/>
            <a:ext cx="8097917" cy="60960"/>
          </a:xfrm>
          <a:prstGeom prst="roundRect">
            <a:avLst>
              <a:gd name="adj" fmla="val 36775"/>
            </a:avLst>
          </a:prstGeom>
          <a:solidFill>
            <a:srgbClr val="325F7B"/>
          </a:solidFill>
          <a:ln/>
        </p:spPr>
        <p:txBody>
          <a:bodyPr/>
          <a:lstStyle/>
          <a:p>
            <a:endParaRPr lang="en-IN"/>
          </a:p>
        </p:txBody>
      </p:sp>
      <p:sp>
        <p:nvSpPr>
          <p:cNvPr id="12" name="Shape 9"/>
          <p:cNvSpPr/>
          <p:nvPr/>
        </p:nvSpPr>
        <p:spPr>
          <a:xfrm>
            <a:off x="4347865" y="3060978"/>
            <a:ext cx="448270" cy="448270"/>
          </a:xfrm>
          <a:prstGeom prst="roundRect">
            <a:avLst>
              <a:gd name="adj" fmla="val 203984"/>
            </a:avLst>
          </a:prstGeom>
          <a:solidFill>
            <a:srgbClr val="325F7B"/>
          </a:solidFill>
          <a:ln/>
        </p:spPr>
        <p:txBody>
          <a:bodyPr/>
          <a:lstStyle/>
          <a:p>
            <a:endParaRPr lang="en-IN"/>
          </a:p>
        </p:txBody>
      </p:sp>
      <p:sp>
        <p:nvSpPr>
          <p:cNvPr id="13" name="Text 10"/>
          <p:cNvSpPr/>
          <p:nvPr/>
        </p:nvSpPr>
        <p:spPr>
          <a:xfrm>
            <a:off x="4482286" y="3173016"/>
            <a:ext cx="179308" cy="224076"/>
          </a:xfrm>
          <a:prstGeom prst="rect">
            <a:avLst/>
          </a:prstGeom>
          <a:noFill/>
          <a:ln/>
        </p:spPr>
        <p:txBody>
          <a:bodyPr wrap="none" lIns="0" tIns="0" rIns="0" bIns="0" rtlCol="0" anchor="t"/>
          <a:lstStyle/>
          <a:p>
            <a:pPr marL="0" indent="0" algn="l">
              <a:lnSpc>
                <a:spcPts val="2250"/>
              </a:lnSpc>
              <a:buNone/>
            </a:pPr>
            <a:r>
              <a:rPr lang="en-US" sz="1400" dirty="0">
                <a:solidFill>
                  <a:srgbClr val="FFFFFF"/>
                </a:solidFill>
                <a:latin typeface="MuseoModerno Medium" pitchFamily="34" charset="0"/>
                <a:ea typeface="MuseoModerno Medium" pitchFamily="34" charset="-122"/>
                <a:cs typeface="MuseoModerno Medium" pitchFamily="34" charset="-120"/>
              </a:rPr>
              <a:t>2</a:t>
            </a:r>
            <a:endParaRPr lang="en-US" sz="1400" dirty="0"/>
          </a:p>
        </p:txBody>
      </p:sp>
      <p:sp>
        <p:nvSpPr>
          <p:cNvPr id="14" name="Text 11"/>
          <p:cNvSpPr/>
          <p:nvPr/>
        </p:nvSpPr>
        <p:spPr>
          <a:xfrm>
            <a:off x="687705" y="3658672"/>
            <a:ext cx="2029539" cy="233482"/>
          </a:xfrm>
          <a:prstGeom prst="rect">
            <a:avLst/>
          </a:prstGeom>
          <a:noFill/>
          <a:ln/>
        </p:spPr>
        <p:txBody>
          <a:bodyPr wrap="none" lIns="0" tIns="0" rIns="0" bIns="0" rtlCol="0" anchor="t"/>
          <a:lstStyle/>
          <a:p>
            <a:pPr marL="0" indent="0" algn="l">
              <a:lnSpc>
                <a:spcPts val="1800"/>
              </a:lnSpc>
              <a:buNone/>
            </a:pPr>
            <a:r>
              <a:rPr lang="en-US" sz="2800" b="1" dirty="0">
                <a:solidFill>
                  <a:srgbClr val="2B4150"/>
                </a:solidFill>
                <a:latin typeface="MuseoModerno Medium" pitchFamily="34" charset="0"/>
                <a:ea typeface="MuseoModerno Medium" pitchFamily="34" charset="-122"/>
                <a:cs typeface="MuseoModerno Medium" pitchFamily="34" charset="-120"/>
              </a:rPr>
              <a:t>Dimensionality Issues</a:t>
            </a:r>
            <a:endParaRPr lang="en-US" sz="2800" b="1" dirty="0"/>
          </a:p>
        </p:txBody>
      </p:sp>
      <p:sp>
        <p:nvSpPr>
          <p:cNvPr id="15" name="Text 12"/>
          <p:cNvSpPr/>
          <p:nvPr/>
        </p:nvSpPr>
        <p:spPr>
          <a:xfrm>
            <a:off x="687705" y="3981807"/>
            <a:ext cx="7768590" cy="239078"/>
          </a:xfrm>
          <a:prstGeom prst="rect">
            <a:avLst/>
          </a:prstGeom>
          <a:noFill/>
          <a:ln/>
        </p:spPr>
        <p:txBody>
          <a:bodyPr wrap="none" lIns="0" tIns="0" rIns="0" bIns="0" rtlCol="0" anchor="t"/>
          <a:lstStyle/>
          <a:p>
            <a:pPr marL="0" indent="0" algn="l">
              <a:lnSpc>
                <a:spcPts val="1850"/>
              </a:lnSpc>
              <a:buNone/>
            </a:pPr>
            <a:r>
              <a:rPr lang="en-US" sz="2000" dirty="0">
                <a:solidFill>
                  <a:srgbClr val="2B4150"/>
                </a:solidFill>
                <a:latin typeface="Times New Roman" panose="02020603050405020304" pitchFamily="18" charset="0"/>
                <a:ea typeface="Source Sans 3" pitchFamily="34" charset="-122"/>
                <a:cs typeface="Times New Roman" panose="02020603050405020304" pitchFamily="18" charset="0"/>
              </a:rPr>
              <a:t>Curse of dimensionality where large feature sets can significantly degrade model performance and computational efficiency.</a:t>
            </a:r>
            <a:endParaRPr lang="en-US" sz="2000" dirty="0">
              <a:latin typeface="Times New Roman" panose="02020603050405020304" pitchFamily="18" charset="0"/>
              <a:cs typeface="Times New Roman" panose="02020603050405020304" pitchFamily="18" charset="0"/>
            </a:endParaRPr>
          </a:p>
        </p:txBody>
      </p:sp>
      <p:sp>
        <p:nvSpPr>
          <p:cNvPr id="16" name="Shape 13"/>
          <p:cNvSpPr/>
          <p:nvPr/>
        </p:nvSpPr>
        <p:spPr>
          <a:xfrm>
            <a:off x="523042" y="4759047"/>
            <a:ext cx="12746149" cy="1100495"/>
          </a:xfrm>
          <a:prstGeom prst="roundRect">
            <a:avLst>
              <a:gd name="adj" fmla="val 6647"/>
            </a:avLst>
          </a:prstGeom>
          <a:solidFill>
            <a:srgbClr val="FFFCF5"/>
          </a:solidFill>
          <a:ln/>
        </p:spPr>
        <p:txBody>
          <a:bodyPr/>
          <a:lstStyle/>
          <a:p>
            <a:endParaRPr lang="en-IN"/>
          </a:p>
        </p:txBody>
      </p:sp>
      <p:sp>
        <p:nvSpPr>
          <p:cNvPr id="17" name="Shape 14"/>
          <p:cNvSpPr/>
          <p:nvPr/>
        </p:nvSpPr>
        <p:spPr>
          <a:xfrm>
            <a:off x="523042" y="4743807"/>
            <a:ext cx="8097917" cy="60960"/>
          </a:xfrm>
          <a:prstGeom prst="roundRect">
            <a:avLst>
              <a:gd name="adj" fmla="val 36775"/>
            </a:avLst>
          </a:prstGeom>
          <a:solidFill>
            <a:srgbClr val="325F7B"/>
          </a:solidFill>
          <a:ln/>
        </p:spPr>
        <p:txBody>
          <a:bodyPr/>
          <a:lstStyle/>
          <a:p>
            <a:endParaRPr lang="en-IN"/>
          </a:p>
        </p:txBody>
      </p:sp>
      <p:sp>
        <p:nvSpPr>
          <p:cNvPr id="18" name="Shape 15"/>
          <p:cNvSpPr/>
          <p:nvPr/>
        </p:nvSpPr>
        <p:spPr>
          <a:xfrm>
            <a:off x="4347865" y="4534972"/>
            <a:ext cx="448270" cy="448270"/>
          </a:xfrm>
          <a:prstGeom prst="roundRect">
            <a:avLst>
              <a:gd name="adj" fmla="val 203984"/>
            </a:avLst>
          </a:prstGeom>
          <a:solidFill>
            <a:srgbClr val="325F7B"/>
          </a:solidFill>
          <a:ln/>
        </p:spPr>
        <p:txBody>
          <a:bodyPr/>
          <a:lstStyle/>
          <a:p>
            <a:endParaRPr lang="en-IN"/>
          </a:p>
        </p:txBody>
      </p:sp>
      <p:sp>
        <p:nvSpPr>
          <p:cNvPr id="19" name="Text 16"/>
          <p:cNvSpPr/>
          <p:nvPr/>
        </p:nvSpPr>
        <p:spPr>
          <a:xfrm>
            <a:off x="4482286" y="4647009"/>
            <a:ext cx="179308" cy="224076"/>
          </a:xfrm>
          <a:prstGeom prst="rect">
            <a:avLst/>
          </a:prstGeom>
          <a:noFill/>
          <a:ln/>
        </p:spPr>
        <p:txBody>
          <a:bodyPr wrap="none" lIns="0" tIns="0" rIns="0" bIns="0" rtlCol="0" anchor="t"/>
          <a:lstStyle/>
          <a:p>
            <a:pPr marL="0" indent="0" algn="l">
              <a:lnSpc>
                <a:spcPts val="2250"/>
              </a:lnSpc>
              <a:buNone/>
            </a:pPr>
            <a:r>
              <a:rPr lang="en-US" sz="1400" dirty="0">
                <a:solidFill>
                  <a:srgbClr val="FFFFFF"/>
                </a:solidFill>
                <a:latin typeface="MuseoModerno Medium" pitchFamily="34" charset="0"/>
                <a:ea typeface="MuseoModerno Medium" pitchFamily="34" charset="-122"/>
                <a:cs typeface="MuseoModerno Medium" pitchFamily="34" charset="-120"/>
              </a:rPr>
              <a:t>3</a:t>
            </a:r>
            <a:endParaRPr lang="en-US" sz="1400" dirty="0"/>
          </a:p>
        </p:txBody>
      </p:sp>
      <p:sp>
        <p:nvSpPr>
          <p:cNvPr id="20" name="Text 17"/>
          <p:cNvSpPr/>
          <p:nvPr/>
        </p:nvSpPr>
        <p:spPr>
          <a:xfrm>
            <a:off x="687705" y="5132665"/>
            <a:ext cx="1868091" cy="233482"/>
          </a:xfrm>
          <a:prstGeom prst="rect">
            <a:avLst/>
          </a:prstGeom>
          <a:noFill/>
          <a:ln/>
        </p:spPr>
        <p:txBody>
          <a:bodyPr wrap="none" lIns="0" tIns="0" rIns="0" bIns="0" rtlCol="0" anchor="t"/>
          <a:lstStyle/>
          <a:p>
            <a:pPr marL="0" indent="0" algn="l">
              <a:lnSpc>
                <a:spcPts val="1800"/>
              </a:lnSpc>
              <a:buNone/>
            </a:pPr>
            <a:r>
              <a:rPr lang="en-US" sz="2400" b="1" dirty="0">
                <a:solidFill>
                  <a:srgbClr val="2B4150"/>
                </a:solidFill>
                <a:latin typeface="MuseoModerno Medium" pitchFamily="34" charset="0"/>
                <a:ea typeface="MuseoModerno Medium" pitchFamily="34" charset="-122"/>
                <a:cs typeface="MuseoModerno Medium" pitchFamily="34" charset="-120"/>
              </a:rPr>
              <a:t>Concept Drift</a:t>
            </a:r>
            <a:endParaRPr lang="en-US" sz="2400" b="1" dirty="0"/>
          </a:p>
        </p:txBody>
      </p:sp>
      <p:sp>
        <p:nvSpPr>
          <p:cNvPr id="21" name="Text 18"/>
          <p:cNvSpPr/>
          <p:nvPr/>
        </p:nvSpPr>
        <p:spPr>
          <a:xfrm>
            <a:off x="687705" y="5455801"/>
            <a:ext cx="7768590" cy="239078"/>
          </a:xfrm>
          <a:prstGeom prst="rect">
            <a:avLst/>
          </a:prstGeom>
          <a:noFill/>
          <a:ln/>
        </p:spPr>
        <p:txBody>
          <a:bodyPr wrap="none" lIns="0" tIns="0" rIns="0" bIns="0" rtlCol="0" anchor="t"/>
          <a:lstStyle/>
          <a:p>
            <a:pPr marL="0" indent="0" algn="l">
              <a:lnSpc>
                <a:spcPts val="1850"/>
              </a:lnSpc>
              <a:buNone/>
            </a:pPr>
            <a:r>
              <a:rPr lang="en-US" sz="2000" dirty="0">
                <a:solidFill>
                  <a:srgbClr val="2B4150"/>
                </a:solidFill>
                <a:latin typeface="Source Sans 3" pitchFamily="34" charset="0"/>
                <a:ea typeface="Source Sans 3" pitchFamily="34" charset="-122"/>
                <a:cs typeface="Source Sans 3" pitchFamily="34" charset="-120"/>
              </a:rPr>
              <a:t>Evolving network patterns require continuous model updates and retraining to maintain detection effectiveness over time.</a:t>
            </a:r>
            <a:endParaRPr lang="en-US" sz="2000" dirty="0"/>
          </a:p>
        </p:txBody>
      </p:sp>
      <p:sp>
        <p:nvSpPr>
          <p:cNvPr id="22" name="Shape 19"/>
          <p:cNvSpPr/>
          <p:nvPr/>
        </p:nvSpPr>
        <p:spPr>
          <a:xfrm>
            <a:off x="523042" y="6233041"/>
            <a:ext cx="12746149" cy="1339572"/>
          </a:xfrm>
          <a:prstGeom prst="roundRect">
            <a:avLst>
              <a:gd name="adj" fmla="val 5461"/>
            </a:avLst>
          </a:prstGeom>
          <a:solidFill>
            <a:srgbClr val="FFFCF5"/>
          </a:solidFill>
          <a:ln/>
        </p:spPr>
        <p:txBody>
          <a:bodyPr/>
          <a:lstStyle/>
          <a:p>
            <a:endParaRPr lang="en-IN"/>
          </a:p>
        </p:txBody>
      </p:sp>
      <p:sp>
        <p:nvSpPr>
          <p:cNvPr id="23" name="Shape 20"/>
          <p:cNvSpPr/>
          <p:nvPr/>
        </p:nvSpPr>
        <p:spPr>
          <a:xfrm>
            <a:off x="523042" y="6217801"/>
            <a:ext cx="8097917" cy="60960"/>
          </a:xfrm>
          <a:prstGeom prst="roundRect">
            <a:avLst>
              <a:gd name="adj" fmla="val 36775"/>
            </a:avLst>
          </a:prstGeom>
          <a:solidFill>
            <a:srgbClr val="325F7B"/>
          </a:solidFill>
          <a:ln/>
        </p:spPr>
        <p:txBody>
          <a:bodyPr/>
          <a:lstStyle/>
          <a:p>
            <a:endParaRPr lang="en-IN"/>
          </a:p>
        </p:txBody>
      </p:sp>
      <p:sp>
        <p:nvSpPr>
          <p:cNvPr id="24" name="Shape 21"/>
          <p:cNvSpPr/>
          <p:nvPr/>
        </p:nvSpPr>
        <p:spPr>
          <a:xfrm>
            <a:off x="4347865" y="6008965"/>
            <a:ext cx="448270" cy="448270"/>
          </a:xfrm>
          <a:prstGeom prst="roundRect">
            <a:avLst>
              <a:gd name="adj" fmla="val 203984"/>
            </a:avLst>
          </a:prstGeom>
          <a:solidFill>
            <a:srgbClr val="325F7B"/>
          </a:solidFill>
          <a:ln/>
        </p:spPr>
        <p:txBody>
          <a:bodyPr/>
          <a:lstStyle/>
          <a:p>
            <a:endParaRPr lang="en-IN"/>
          </a:p>
        </p:txBody>
      </p:sp>
      <p:sp>
        <p:nvSpPr>
          <p:cNvPr id="25" name="Text 22"/>
          <p:cNvSpPr/>
          <p:nvPr/>
        </p:nvSpPr>
        <p:spPr>
          <a:xfrm>
            <a:off x="4482286" y="6121003"/>
            <a:ext cx="179308" cy="224076"/>
          </a:xfrm>
          <a:prstGeom prst="rect">
            <a:avLst/>
          </a:prstGeom>
          <a:noFill/>
          <a:ln/>
        </p:spPr>
        <p:txBody>
          <a:bodyPr wrap="none" lIns="0" tIns="0" rIns="0" bIns="0" rtlCol="0" anchor="t"/>
          <a:lstStyle/>
          <a:p>
            <a:pPr marL="0" indent="0" algn="l">
              <a:lnSpc>
                <a:spcPts val="2250"/>
              </a:lnSpc>
              <a:buNone/>
            </a:pPr>
            <a:r>
              <a:rPr lang="en-US" sz="1400" dirty="0">
                <a:solidFill>
                  <a:srgbClr val="FFFFFF"/>
                </a:solidFill>
                <a:latin typeface="MuseoModerno Medium" pitchFamily="34" charset="0"/>
                <a:ea typeface="MuseoModerno Medium" pitchFamily="34" charset="-122"/>
                <a:cs typeface="MuseoModerno Medium" pitchFamily="34" charset="-120"/>
              </a:rPr>
              <a:t>4</a:t>
            </a:r>
            <a:endParaRPr lang="en-US" sz="1400" dirty="0"/>
          </a:p>
        </p:txBody>
      </p:sp>
      <p:sp>
        <p:nvSpPr>
          <p:cNvPr id="26" name="Text 23"/>
          <p:cNvSpPr/>
          <p:nvPr/>
        </p:nvSpPr>
        <p:spPr>
          <a:xfrm>
            <a:off x="687705" y="6606659"/>
            <a:ext cx="1952625" cy="233482"/>
          </a:xfrm>
          <a:prstGeom prst="rect">
            <a:avLst/>
          </a:prstGeom>
          <a:noFill/>
          <a:ln/>
        </p:spPr>
        <p:txBody>
          <a:bodyPr wrap="none" lIns="0" tIns="0" rIns="0" bIns="0" rtlCol="0" anchor="t"/>
          <a:lstStyle/>
          <a:p>
            <a:pPr marL="0" indent="0" algn="l">
              <a:lnSpc>
                <a:spcPts val="1800"/>
              </a:lnSpc>
              <a:buNone/>
            </a:pPr>
            <a:r>
              <a:rPr lang="en-US" sz="2400" b="1" dirty="0">
                <a:solidFill>
                  <a:srgbClr val="2B4150"/>
                </a:solidFill>
                <a:latin typeface="MuseoModerno Medium" pitchFamily="34" charset="0"/>
                <a:ea typeface="MuseoModerno Medium" pitchFamily="34" charset="-122"/>
                <a:cs typeface="MuseoModerno Medium" pitchFamily="34" charset="-120"/>
              </a:rPr>
              <a:t>Real-time Constraints</a:t>
            </a:r>
            <a:endParaRPr lang="en-US" sz="2400" b="1" dirty="0"/>
          </a:p>
        </p:txBody>
      </p:sp>
      <p:sp>
        <p:nvSpPr>
          <p:cNvPr id="27" name="Text 24"/>
          <p:cNvSpPr/>
          <p:nvPr/>
        </p:nvSpPr>
        <p:spPr>
          <a:xfrm>
            <a:off x="687705" y="6929795"/>
            <a:ext cx="12467186" cy="478155"/>
          </a:xfrm>
          <a:prstGeom prst="rect">
            <a:avLst/>
          </a:prstGeom>
          <a:noFill/>
          <a:ln/>
        </p:spPr>
        <p:txBody>
          <a:bodyPr wrap="square" lIns="0" tIns="0" rIns="0" bIns="0" rtlCol="0" anchor="t"/>
          <a:lstStyle/>
          <a:p>
            <a:pPr marL="0" indent="0" algn="l">
              <a:lnSpc>
                <a:spcPts val="1850"/>
              </a:lnSpc>
              <a:buNone/>
            </a:pPr>
            <a:r>
              <a:rPr lang="en-US" sz="2000" dirty="0">
                <a:solidFill>
                  <a:srgbClr val="2B4150"/>
                </a:solidFill>
                <a:latin typeface="Source Sans 3" pitchFamily="34" charset="0"/>
                <a:ea typeface="Source Sans 3" pitchFamily="34" charset="-122"/>
                <a:cs typeface="Source Sans 3" pitchFamily="34" charset="-120"/>
              </a:rPr>
              <a:t>Computational complexity and latency issues in real-time detection environments challenge practical deployment scalability.</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name="Slide 9">
    <p:spTree>
      <p:nvGrpSpPr>
        <p:cNvPr id="1" name=""/>
        <p:cNvGrpSpPr/>
        <p:nvPr/>
      </p:nvGrpSpPr>
      <p:grpSpPr>
        <a:xfrm>
          <a:off x="0" y="0"/>
          <a:ext cx="0" cy="0"/>
          <a:chOff x="0" y="0"/>
          <a:chExt cx="0" cy="0"/>
        </a:xfrm>
      </p:grpSpPr>
      <p:sp>
        <p:nvSpPr>
          <p:cNvPr id="2" name="Text 0"/>
          <p:cNvSpPr/>
          <p:nvPr/>
        </p:nvSpPr>
        <p:spPr>
          <a:xfrm>
            <a:off x="793790" y="1900476"/>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124E73"/>
                </a:solidFill>
                <a:latin typeface="MuseoModerno Medium" pitchFamily="34" charset="0"/>
                <a:ea typeface="MuseoModerno Medium" pitchFamily="34" charset="-122"/>
                <a:cs typeface="MuseoModerno Medium" pitchFamily="34" charset="-120"/>
              </a:rPr>
              <a:t>Abstract</a:t>
            </a:r>
            <a:endParaRPr lang="en-US" sz="4450" dirty="0"/>
          </a:p>
        </p:txBody>
      </p:sp>
      <p:sp>
        <p:nvSpPr>
          <p:cNvPr id="3" name="Text 1"/>
          <p:cNvSpPr/>
          <p:nvPr/>
        </p:nvSpPr>
        <p:spPr>
          <a:xfrm>
            <a:off x="793790" y="3062883"/>
            <a:ext cx="13042821" cy="3266123"/>
          </a:xfrm>
          <a:prstGeom prst="rect">
            <a:avLst/>
          </a:prstGeom>
          <a:noFill/>
          <a:ln/>
        </p:spPr>
        <p:txBody>
          <a:bodyPr wrap="square" lIns="0" tIns="0" rIns="0" bIns="0" rtlCol="0" anchor="t"/>
          <a:lstStyle/>
          <a:p>
            <a:pPr marL="0" indent="0" algn="just">
              <a:lnSpc>
                <a:spcPts val="2850"/>
              </a:lnSpc>
              <a:buNone/>
            </a:pPr>
            <a:r>
              <a:rPr lang="en-US" sz="1750" dirty="0">
                <a:solidFill>
                  <a:srgbClr val="2B4150"/>
                </a:solidFill>
                <a:latin typeface="Source Sans 3" pitchFamily="34" charset="0"/>
                <a:ea typeface="Source Sans 3" pitchFamily="34" charset="-122"/>
                <a:cs typeface="Source Sans 3" pitchFamily="34" charset="-120"/>
              </a:rPr>
              <a:t>In the modern digital era, computer networks have become an essential part of every organization, but they are also highly vulnerable to various cyberattacks. Hackers and malicious programs often try to enter networks without permission to steal sensitive data, damage systems, or disrupt normal operations. To protect valuable information and maintain network safety, it is important to detect such attacks as early as possible. This project aims to develop an Intrusion Detection System (IDS) that can automatically identify suspicious or abnormal behavior in network traffic. The system collects and analyzes network data, learns the normal patterns of user activities, and then detects any unusual activities that could be possible intrusions. It uses machine learning techniques such as Isolation Forest or Autoencoder to accurately find these anomalies. Whenever suspicious behavior is detected, the system raises alerts to warn network administrators. By detecting intrusions quickly, this system helps prevent data theft, reduce damage, and improve the overall security of the network. This approach makes it easier for organizations to monitor their networks and respond to cyber threats effectively.</a:t>
            </a:r>
            <a:endParaRPr lang="en-US" sz="1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name="Slide 10">
    <p:spTree>
      <p:nvGrpSpPr>
        <p:cNvPr id="1" name=""/>
        <p:cNvGrpSpPr/>
        <p:nvPr/>
      </p:nvGrpSpPr>
      <p:grpSpPr>
        <a:xfrm>
          <a:off x="0" y="0"/>
          <a:ext cx="0" cy="0"/>
          <a:chOff x="0" y="0"/>
          <a:chExt cx="0" cy="0"/>
        </a:xfrm>
      </p:grpSpPr>
      <p:sp>
        <p:nvSpPr>
          <p:cNvPr id="2" name="Text 0"/>
          <p:cNvSpPr/>
          <p:nvPr/>
        </p:nvSpPr>
        <p:spPr>
          <a:xfrm>
            <a:off x="4479846" y="3760351"/>
            <a:ext cx="5670590" cy="708779"/>
          </a:xfrm>
          <a:prstGeom prst="rect">
            <a:avLst/>
          </a:prstGeom>
          <a:noFill/>
          <a:ln/>
        </p:spPr>
        <p:txBody>
          <a:bodyPr wrap="none" lIns="0" tIns="0" rIns="0" bIns="0" rtlCol="0" anchor="t"/>
          <a:lstStyle/>
          <a:p>
            <a:pPr marL="0" indent="0" algn="ctr">
              <a:lnSpc>
                <a:spcPts val="5550"/>
              </a:lnSpc>
              <a:buNone/>
            </a:pPr>
            <a:r>
              <a:rPr lang="en-US" sz="4450" dirty="0">
                <a:solidFill>
                  <a:srgbClr val="124E73"/>
                </a:solidFill>
                <a:latin typeface="MuseoModerno Medium" pitchFamily="34" charset="0"/>
                <a:ea typeface="MuseoModerno Medium" pitchFamily="34" charset="-122"/>
                <a:cs typeface="MuseoModerno Medium" pitchFamily="34" charset="-120"/>
              </a:rPr>
              <a:t>THANK YOU</a:t>
            </a:r>
            <a:endParaRPr lang="en-US" sz="4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571</TotalTime>
  <Words>1014</Words>
  <Application>Microsoft Office PowerPoint</Application>
  <PresentationFormat>Custom</PresentationFormat>
  <Paragraphs>71</Paragraphs>
  <Slides>11</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MuseoModerno Medium</vt:lpstr>
      <vt:lpstr>Source Sans 3</vt:lpstr>
      <vt:lpstr>Aptos Display</vt:lpstr>
      <vt:lpstr>Times New Roman</vt:lpstr>
      <vt:lpstr>Arial</vt:lpstr>
      <vt:lpstr>Aptos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surya theja</cp:lastModifiedBy>
  <cp:revision>9</cp:revision>
  <dcterms:created xsi:type="dcterms:W3CDTF">2025-09-14T03:51:13Z</dcterms:created>
  <dcterms:modified xsi:type="dcterms:W3CDTF">2026-03-01T03:46:44Z</dcterms:modified>
</cp:coreProperties>
</file>